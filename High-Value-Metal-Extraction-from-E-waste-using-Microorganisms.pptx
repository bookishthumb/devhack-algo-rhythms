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60"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4630400" cy="8229600"/>
  <p:notesSz cx="8229600" cy="14630400"/>
  <p:embeddedFontLst>
    <p:embeddedFont>
      <p:font typeface="Aharoni" panose="02010803020104030203" pitchFamily="2" charset="-79"/>
      <p:bold r:id="rId12"/>
    </p:embeddedFont>
    <p:embeddedFont>
      <p:font typeface="Corbel" panose="020B0503020204020204" pitchFamily="34" charset="0"/>
      <p:regular r:id="rId13"/>
      <p:bold r:id="rId14"/>
      <p:italic r:id="rId15"/>
      <p:boldItalic r:id="rId16"/>
    </p:embeddedFont>
    <p:embeddedFont>
      <p:font typeface="Host Grotesk Medium" panose="020B0604020202020204" charset="0"/>
      <p:regular r:id="rId17"/>
    </p:embeddedFont>
    <p:embeddedFont>
      <p:font typeface="Roboto" panose="02000000000000000000" pitchFamily="2" charset="0"/>
      <p:regular r:id="rId18"/>
      <p:bold r:id="rId19"/>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5CCDA"/>
    <a:srgbClr val="C7E0E7"/>
    <a:srgbClr val="E9CFC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4" d="100"/>
          <a:sy n="74" d="100"/>
        </p:scale>
        <p:origin x="446"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font" Target="fonts/font4.fntdata"/><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888063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a:spLocks noChangeAspect="1"/>
          </p:cNvSpPr>
          <p:nvPr/>
        </p:nvSpPr>
        <p:spPr>
          <a:xfrm>
            <a:off x="277368" y="292609"/>
            <a:ext cx="14069568" cy="7653527"/>
          </a:xfrm>
          <a:prstGeom prst="rect">
            <a:avLst/>
          </a:prstGeom>
          <a:solidFill>
            <a:schemeClr val="accent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331976" y="1058851"/>
            <a:ext cx="11960352" cy="3511296"/>
          </a:xfrm>
        </p:spPr>
        <p:txBody>
          <a:bodyPr anchor="b">
            <a:normAutofit/>
          </a:bodyPr>
          <a:lstStyle>
            <a:lvl1pPr algn="ctr">
              <a:lnSpc>
                <a:spcPct val="85000"/>
              </a:lnSpc>
              <a:defRPr sz="8640" b="1" cap="all"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2051436" y="4643561"/>
            <a:ext cx="10521432" cy="1665798"/>
          </a:xfrm>
        </p:spPr>
        <p:txBody>
          <a:bodyPr>
            <a:normAutofit/>
          </a:bodyPr>
          <a:lstStyle>
            <a:lvl1pPr marL="0" indent="0" algn="ctr">
              <a:buNone/>
              <a:defRPr sz="2640">
                <a:solidFill>
                  <a:srgbClr val="FFFFFF"/>
                </a:solidFill>
              </a:defRPr>
            </a:lvl1pPr>
            <a:lvl2pPr marL="548640" indent="0" algn="ctr">
              <a:buNone/>
              <a:defRPr sz="2640"/>
            </a:lvl2pPr>
            <a:lvl3pPr marL="1097280" indent="0" algn="ctr">
              <a:buNone/>
              <a:defRPr sz="2640"/>
            </a:lvl3pPr>
            <a:lvl4pPr marL="1645920" indent="0" algn="ctr">
              <a:buNone/>
              <a:defRPr sz="2400"/>
            </a:lvl4pPr>
            <a:lvl5pPr marL="2194560" indent="0" algn="ctr">
              <a:buNone/>
              <a:defRPr sz="2400"/>
            </a:lvl5pPr>
            <a:lvl6pPr marL="2743200" indent="0" algn="ctr">
              <a:buNone/>
              <a:defRPr sz="2400"/>
            </a:lvl6pPr>
            <a:lvl7pPr marL="3291840" indent="0" algn="ctr">
              <a:buNone/>
              <a:defRPr sz="2400"/>
            </a:lvl7pPr>
            <a:lvl8pPr marL="3840480" indent="0" algn="ctr">
              <a:buNone/>
              <a:defRPr sz="2400"/>
            </a:lvl8pPr>
            <a:lvl9pPr marL="4389120" indent="0" algn="ctr">
              <a:buNone/>
              <a:defRPr sz="24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rgbClr val="FFFFFF"/>
                </a:solidFill>
              </a:defRPr>
            </a:lvl1pPr>
          </a:lstStyle>
          <a:p>
            <a:fld id="{96DFF08F-DC6B-4601-B491-B0F83F6DD2DA}" type="datetimeFigureOut">
              <a:rPr lang="en-US" dirty="0"/>
              <a:t>8/17/2025</a:t>
            </a:fld>
            <a:endParaRPr lang="en-US" dirty="0"/>
          </a:p>
        </p:txBody>
      </p:sp>
      <p:sp>
        <p:nvSpPr>
          <p:cNvPr id="5" name="Footer Placeholder 4"/>
          <p:cNvSpPr>
            <a:spLocks noGrp="1"/>
          </p:cNvSpPr>
          <p:nvPr>
            <p:ph type="ftr" sz="quarter" idx="11"/>
          </p:nvPr>
        </p:nvSpPr>
        <p:spPr/>
        <p:txBody>
          <a:bodyPr/>
          <a:lstStyle>
            <a:lvl1pPr>
              <a:defRPr>
                <a:solidFill>
                  <a:srgbClr val="FFFFFF"/>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4FAB73BC-B049-4115-A692-8D63A059BFB8}" type="slidenum">
              <a:rPr lang="en-US" dirty="0"/>
              <a:t>‹#›</a:t>
            </a:fld>
            <a:endParaRPr lang="en-US" dirty="0"/>
          </a:p>
        </p:txBody>
      </p:sp>
      <p:cxnSp>
        <p:nvCxnSpPr>
          <p:cNvPr id="8" name="Straight Connector 7"/>
          <p:cNvCxnSpPr/>
          <p:nvPr/>
        </p:nvCxnSpPr>
        <p:spPr>
          <a:xfrm>
            <a:off x="2374393" y="4480560"/>
            <a:ext cx="9875521"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50116265"/>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dirty="0"/>
              <a:t>8/17/2025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3248857851"/>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327709" y="1408290"/>
            <a:ext cx="11960352" cy="3511296"/>
          </a:xfrm>
        </p:spPr>
        <p:txBody>
          <a:bodyPr anchor="b">
            <a:noAutofit/>
          </a:bodyPr>
          <a:lstStyle>
            <a:lvl1pPr algn="ctr">
              <a:lnSpc>
                <a:spcPct val="85000"/>
              </a:lnSpc>
              <a:defRPr sz="8640" b="0" cap="all" baseline="0"/>
            </a:lvl1pPr>
          </a:lstStyle>
          <a:p>
            <a:r>
              <a:rPr lang="en-US"/>
              <a:t>Click to edit Master title style</a:t>
            </a:r>
            <a:endParaRPr lang="en-US" dirty="0"/>
          </a:p>
        </p:txBody>
      </p:sp>
      <p:sp>
        <p:nvSpPr>
          <p:cNvPr id="3" name="Text Placeholder 2"/>
          <p:cNvSpPr>
            <a:spLocks noGrp="1"/>
          </p:cNvSpPr>
          <p:nvPr>
            <p:ph type="body" idx="1"/>
          </p:nvPr>
        </p:nvSpPr>
        <p:spPr>
          <a:xfrm>
            <a:off x="2051914" y="4985424"/>
            <a:ext cx="10522915" cy="1636567"/>
          </a:xfrm>
        </p:spPr>
        <p:txBody>
          <a:bodyPr anchor="t">
            <a:normAutofit/>
          </a:bodyPr>
          <a:lstStyle>
            <a:lvl1pPr marL="0" indent="0" algn="ctr">
              <a:buNone/>
              <a:defRPr sz="2640">
                <a:solidFill>
                  <a:schemeClr val="accent1"/>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6DFF08F-DC6B-4601-B491-B0F83F6DD2DA}" type="datetimeFigureOut">
              <a:rPr lang="en-US" dirty="0"/>
              <a:t>8/17/2025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7" name="Straight Connector 6"/>
          <p:cNvCxnSpPr/>
          <p:nvPr/>
        </p:nvCxnSpPr>
        <p:spPr>
          <a:xfrm>
            <a:off x="2377441" y="4824490"/>
            <a:ext cx="987552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57247227"/>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371600" y="2468879"/>
            <a:ext cx="5705856" cy="4828032"/>
          </a:xfrm>
        </p:spPr>
        <p:txBody>
          <a:bodyPr/>
          <a:lstStyle>
            <a:lvl1pPr>
              <a:defRPr sz="2640"/>
            </a:lvl1pPr>
            <a:lvl2pPr>
              <a:defRPr sz="2400"/>
            </a:lvl2pPr>
            <a:lvl3pPr>
              <a:defRPr sz="2160"/>
            </a:lvl3pPr>
            <a:lvl4pPr>
              <a:defRPr sz="1920"/>
            </a:lvl4pPr>
            <a:lvl5pPr>
              <a:defRPr sz="1920"/>
            </a:lvl5pPr>
            <a:lvl6pPr>
              <a:defRPr sz="1920"/>
            </a:lvl6pPr>
            <a:lvl7pPr>
              <a:defRPr sz="1920"/>
            </a:lvl7pPr>
            <a:lvl8pPr>
              <a:defRPr sz="1920"/>
            </a:lvl8pPr>
            <a:lvl9pPr>
              <a:defRPr sz="192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521134" y="2468880"/>
            <a:ext cx="5705856" cy="4828032"/>
          </a:xfrm>
        </p:spPr>
        <p:txBody>
          <a:bodyPr/>
          <a:lstStyle>
            <a:lvl1pPr>
              <a:defRPr sz="2640"/>
            </a:lvl1pPr>
            <a:lvl2pPr>
              <a:defRPr sz="2400"/>
            </a:lvl2pPr>
            <a:lvl3pPr>
              <a:defRPr sz="2160"/>
            </a:lvl3pPr>
            <a:lvl4pPr>
              <a:defRPr sz="1920"/>
            </a:lvl4pPr>
            <a:lvl5pPr>
              <a:defRPr sz="1920"/>
            </a:lvl5pPr>
            <a:lvl6pPr>
              <a:defRPr sz="1920"/>
            </a:lvl6pPr>
            <a:lvl7pPr>
              <a:defRPr sz="1920"/>
            </a:lvl7pPr>
            <a:lvl8pPr>
              <a:defRPr sz="1920"/>
            </a:lvl8pPr>
            <a:lvl9pPr>
              <a:defRPr sz="192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6DFF08F-DC6B-4601-B491-B0F83F6DD2DA}" type="datetimeFigureOut">
              <a:rPr lang="en-US" dirty="0"/>
              <a:t>8/17/2025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2162638860"/>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371600" y="2401813"/>
            <a:ext cx="5705856" cy="932688"/>
          </a:xfrm>
        </p:spPr>
        <p:txBody>
          <a:bodyPr anchor="ctr"/>
          <a:lstStyle>
            <a:lvl1pPr marL="0" indent="0">
              <a:spcBef>
                <a:spcPts val="0"/>
              </a:spcBef>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4" name="Content Placeholder 3"/>
          <p:cNvSpPr>
            <a:spLocks noGrp="1"/>
          </p:cNvSpPr>
          <p:nvPr>
            <p:ph sz="half" idx="2"/>
          </p:nvPr>
        </p:nvSpPr>
        <p:spPr>
          <a:xfrm>
            <a:off x="1371600" y="3265780"/>
            <a:ext cx="5705856" cy="4059936"/>
          </a:xfrm>
        </p:spPr>
        <p:txBody>
          <a:bodyPr/>
          <a:lstStyle>
            <a:lvl1pPr>
              <a:defRPr sz="2640"/>
            </a:lvl1pPr>
            <a:lvl2pPr>
              <a:defRPr sz="2400"/>
            </a:lvl2pPr>
            <a:lvl3pPr>
              <a:defRPr sz="2160"/>
            </a:lvl3pPr>
            <a:lvl4pPr>
              <a:defRPr sz="1920"/>
            </a:lvl4pPr>
            <a:lvl5pPr>
              <a:defRPr sz="1920"/>
            </a:lvl5pPr>
            <a:lvl6pPr>
              <a:defRPr sz="1920"/>
            </a:lvl6pPr>
            <a:lvl7pPr>
              <a:defRPr sz="1920"/>
            </a:lvl7pPr>
            <a:lvl8pPr>
              <a:defRPr sz="1920"/>
            </a:lvl8pPr>
            <a:lvl9pPr>
              <a:defRPr sz="192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23008" y="2398838"/>
            <a:ext cx="5705856" cy="932688"/>
          </a:xfrm>
        </p:spPr>
        <p:txBody>
          <a:bodyPr anchor="ctr"/>
          <a:lstStyle>
            <a:lvl1pPr marL="0" indent="0">
              <a:spcBef>
                <a:spcPts val="0"/>
              </a:spcBef>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6" name="Content Placeholder 5"/>
          <p:cNvSpPr>
            <a:spLocks noGrp="1"/>
          </p:cNvSpPr>
          <p:nvPr>
            <p:ph sz="quarter" idx="4"/>
          </p:nvPr>
        </p:nvSpPr>
        <p:spPr>
          <a:xfrm>
            <a:off x="7523008" y="3263186"/>
            <a:ext cx="5705856" cy="4059936"/>
          </a:xfrm>
        </p:spPr>
        <p:txBody>
          <a:bodyPr/>
          <a:lstStyle>
            <a:lvl1pPr>
              <a:defRPr sz="2640"/>
            </a:lvl1pPr>
            <a:lvl2pPr>
              <a:defRPr sz="2400"/>
            </a:lvl2pPr>
            <a:lvl3pPr>
              <a:defRPr sz="2160"/>
            </a:lvl3pPr>
            <a:lvl4pPr>
              <a:defRPr sz="1920"/>
            </a:lvl4pPr>
            <a:lvl5pPr>
              <a:defRPr sz="1920"/>
            </a:lvl5pPr>
            <a:lvl6pPr>
              <a:defRPr sz="1920"/>
            </a:lvl6pPr>
            <a:lvl7pPr>
              <a:defRPr sz="1920"/>
            </a:lvl7pPr>
            <a:lvl8pPr>
              <a:defRPr sz="1920"/>
            </a:lvl8pPr>
            <a:lvl9pPr>
              <a:defRPr sz="192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6DFF08F-DC6B-4601-B491-B0F83F6DD2DA}" type="datetimeFigureOut">
              <a:rPr lang="en-US" dirty="0"/>
              <a:t>8/17/2025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4121838337"/>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6DFF08F-DC6B-4601-B491-B0F83F6DD2DA}" type="datetimeFigureOut">
              <a:rPr lang="en-US" dirty="0"/>
              <a:t>8/17/2025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764078738"/>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6DFF08F-DC6B-4601-B491-B0F83F6DD2DA}" type="datetimeFigureOut">
              <a:rPr lang="en-US" dirty="0"/>
              <a:t>8/17/2025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2656176275"/>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71600" y="1316736"/>
            <a:ext cx="4718304" cy="2084832"/>
          </a:xfrm>
        </p:spPr>
        <p:txBody>
          <a:bodyPr anchor="b">
            <a:noAutofit/>
          </a:bodyPr>
          <a:lstStyle>
            <a:lvl1pPr>
              <a:lnSpc>
                <a:spcPct val="90000"/>
              </a:lnSpc>
              <a:defRPr sz="4800" b="0"/>
            </a:lvl1pPr>
          </a:lstStyle>
          <a:p>
            <a:r>
              <a:rPr lang="en-US"/>
              <a:t>Click to edit Master title style</a:t>
            </a:r>
            <a:endParaRPr lang="en-US" dirty="0"/>
          </a:p>
        </p:txBody>
      </p:sp>
      <p:sp>
        <p:nvSpPr>
          <p:cNvPr id="3" name="Content Placeholder 2"/>
          <p:cNvSpPr>
            <a:spLocks noGrp="1"/>
          </p:cNvSpPr>
          <p:nvPr>
            <p:ph idx="1"/>
          </p:nvPr>
        </p:nvSpPr>
        <p:spPr>
          <a:xfrm>
            <a:off x="7022591" y="1316736"/>
            <a:ext cx="6254496" cy="5596128"/>
          </a:xfrm>
        </p:spPr>
        <p:txBody>
          <a:bodyPr/>
          <a:lstStyle>
            <a:lvl1pPr>
              <a:defRPr sz="3840"/>
            </a:lvl1pPr>
            <a:lvl2pPr>
              <a:defRPr sz="3360"/>
            </a:lvl2pPr>
            <a:lvl3pPr>
              <a:defRPr sz="2880"/>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371600" y="3401568"/>
            <a:ext cx="4718304" cy="3621024"/>
          </a:xfrm>
        </p:spPr>
        <p:txBody>
          <a:bodyPr>
            <a:normAutofit/>
          </a:bodyPr>
          <a:lstStyle>
            <a:lvl1pPr marL="0" indent="0">
              <a:lnSpc>
                <a:spcPct val="100000"/>
              </a:lnSpc>
              <a:spcBef>
                <a:spcPts val="1200"/>
              </a:spcBef>
              <a:buNone/>
              <a:defRPr sz="204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5" name="Date Placeholder 4"/>
          <p:cNvSpPr>
            <a:spLocks noGrp="1"/>
          </p:cNvSpPr>
          <p:nvPr>
            <p:ph type="dt" sz="half" idx="10"/>
          </p:nvPr>
        </p:nvSpPr>
        <p:spPr/>
        <p:txBody>
          <a:bodyPr/>
          <a:lstStyle/>
          <a:p>
            <a:fld id="{96DFF08F-DC6B-4601-B491-B0F83F6DD2DA}" type="datetimeFigureOut">
              <a:rPr lang="en-US" dirty="0"/>
              <a:t>8/17/2025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899111101"/>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71600" y="1316736"/>
            <a:ext cx="4718304" cy="2084832"/>
          </a:xfrm>
        </p:spPr>
        <p:txBody>
          <a:bodyPr anchor="b">
            <a:noAutofit/>
          </a:bodyPr>
          <a:lstStyle>
            <a:lvl1pPr>
              <a:lnSpc>
                <a:spcPct val="90000"/>
              </a:lnSpc>
              <a:defRPr sz="48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495897" y="1283816"/>
            <a:ext cx="7318858" cy="5760720"/>
          </a:xfrm>
        </p:spPr>
        <p:txBody>
          <a:bodyPr lIns="274320" tIns="182880" anchor="t">
            <a:normAutofit/>
          </a:bodyPr>
          <a:lstStyle>
            <a:lvl1pPr marL="0" indent="0">
              <a:buNone/>
              <a:defRPr sz="3360"/>
            </a:lvl1pPr>
            <a:lvl2pPr marL="548640" indent="0">
              <a:buNone/>
              <a:defRPr sz="3360"/>
            </a:lvl2pPr>
            <a:lvl3pPr marL="1097280" indent="0">
              <a:buNone/>
              <a:defRPr sz="2880"/>
            </a:lvl3pPr>
            <a:lvl4pPr marL="1645920" indent="0">
              <a:buNone/>
              <a:defRPr sz="2400"/>
            </a:lvl4pPr>
            <a:lvl5pPr marL="2194560" indent="0">
              <a:buNone/>
              <a:defRPr sz="2400"/>
            </a:lvl5pPr>
            <a:lvl6pPr marL="2743200" indent="0">
              <a:buNone/>
              <a:defRPr sz="2400"/>
            </a:lvl6pPr>
            <a:lvl7pPr marL="3291840" indent="0">
              <a:buNone/>
              <a:defRPr sz="2400"/>
            </a:lvl7pPr>
            <a:lvl8pPr marL="3840480" indent="0">
              <a:buNone/>
              <a:defRPr sz="2400"/>
            </a:lvl8pPr>
            <a:lvl9pPr marL="4389120" indent="0">
              <a:buNone/>
              <a:defRPr sz="2400"/>
            </a:lvl9pPr>
          </a:lstStyle>
          <a:p>
            <a:r>
              <a:rPr lang="en-US"/>
              <a:t>Click icon to add picture</a:t>
            </a:r>
            <a:endParaRPr lang="en-US" dirty="0"/>
          </a:p>
        </p:txBody>
      </p:sp>
      <p:sp>
        <p:nvSpPr>
          <p:cNvPr id="4" name="Text Placeholder 3"/>
          <p:cNvSpPr>
            <a:spLocks noGrp="1"/>
          </p:cNvSpPr>
          <p:nvPr>
            <p:ph type="body" sz="half" idx="2"/>
          </p:nvPr>
        </p:nvSpPr>
        <p:spPr>
          <a:xfrm>
            <a:off x="1371600" y="3401568"/>
            <a:ext cx="4718304" cy="3456432"/>
          </a:xfrm>
        </p:spPr>
        <p:txBody>
          <a:bodyPr>
            <a:normAutofit/>
          </a:bodyPr>
          <a:lstStyle>
            <a:lvl1pPr marL="0" indent="0">
              <a:lnSpc>
                <a:spcPct val="100000"/>
              </a:lnSpc>
              <a:spcBef>
                <a:spcPts val="1200"/>
              </a:spcBef>
              <a:buNone/>
              <a:defRPr sz="204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5" name="Date Placeholder 4"/>
          <p:cNvSpPr>
            <a:spLocks noGrp="1"/>
          </p:cNvSpPr>
          <p:nvPr>
            <p:ph type="dt" sz="half" idx="10"/>
          </p:nvPr>
        </p:nvSpPr>
        <p:spPr/>
        <p:txBody>
          <a:bodyPr/>
          <a:lstStyle/>
          <a:p>
            <a:fld id="{96DFF08F-DC6B-4601-B491-B0F83F6DD2DA}" type="datetimeFigureOut">
              <a:rPr lang="en-US" dirty="0"/>
              <a:t>8/17/2025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1009464823"/>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dirty="0"/>
              <a:t>8/17/2025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3328946139"/>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469880" y="914400"/>
            <a:ext cx="2788920" cy="649224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371600" y="914400"/>
            <a:ext cx="8915400" cy="649224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dirty="0"/>
              <a:t>8/17/2025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1643920905"/>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1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4637594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Slide 2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4336486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lide 3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08024712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Slide 4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12478771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Slide 5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51294082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Slide 6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60045215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Slide 7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86950526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Slide 8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53127040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Slide 9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2563049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 name="Rectangle 6"/>
          <p:cNvSpPr>
            <a:spLocks noChangeAspect="1"/>
          </p:cNvSpPr>
          <p:nvPr/>
        </p:nvSpPr>
        <p:spPr>
          <a:xfrm>
            <a:off x="277368" y="292609"/>
            <a:ext cx="14069568" cy="7653527"/>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371600" y="731520"/>
            <a:ext cx="11850624" cy="162763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371601" y="2468880"/>
            <a:ext cx="11847445" cy="48463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371595" y="7468594"/>
            <a:ext cx="2794889" cy="438150"/>
          </a:xfrm>
          <a:prstGeom prst="rect">
            <a:avLst/>
          </a:prstGeom>
        </p:spPr>
        <p:txBody>
          <a:bodyPr vert="horz" lIns="91440" tIns="45720" rIns="91440" bIns="45720" rtlCol="0" anchor="ctr"/>
          <a:lstStyle>
            <a:lvl1pPr algn="l">
              <a:defRPr sz="1440">
                <a:solidFill>
                  <a:schemeClr val="accent1"/>
                </a:solidFill>
              </a:defRPr>
            </a:lvl1pPr>
          </a:lstStyle>
          <a:p>
            <a:fld id="{96DFF08F-DC6B-4601-B491-B0F83F6DD2DA}" type="datetimeFigureOut">
              <a:rPr lang="en-US" dirty="0"/>
              <a:pPr/>
              <a:t>8/17/2025</a:t>
            </a:fld>
            <a:endParaRPr lang="en-US" dirty="0"/>
          </a:p>
        </p:txBody>
      </p:sp>
      <p:sp>
        <p:nvSpPr>
          <p:cNvPr id="5" name="Footer Placeholder 4"/>
          <p:cNvSpPr>
            <a:spLocks noGrp="1"/>
          </p:cNvSpPr>
          <p:nvPr>
            <p:ph type="ftr" sz="quarter" idx="3"/>
          </p:nvPr>
        </p:nvSpPr>
        <p:spPr>
          <a:xfrm>
            <a:off x="4738978" y="7468594"/>
            <a:ext cx="5661329" cy="438150"/>
          </a:xfrm>
          <a:prstGeom prst="rect">
            <a:avLst/>
          </a:prstGeom>
        </p:spPr>
        <p:txBody>
          <a:bodyPr vert="horz" lIns="91440" tIns="45720" rIns="91440" bIns="45720" rtlCol="0" anchor="ctr"/>
          <a:lstStyle>
            <a:lvl1pPr algn="ctr">
              <a:defRPr sz="1440">
                <a:solidFill>
                  <a:schemeClr val="accent1"/>
                </a:solidFill>
              </a:defRPr>
            </a:lvl1pPr>
          </a:lstStyle>
          <a:p>
            <a:endParaRPr lang="en-US" dirty="0"/>
          </a:p>
        </p:txBody>
      </p:sp>
      <p:sp>
        <p:nvSpPr>
          <p:cNvPr id="6" name="Slide Number Placeholder 5"/>
          <p:cNvSpPr>
            <a:spLocks noGrp="1"/>
          </p:cNvSpPr>
          <p:nvPr>
            <p:ph type="sldNum" sz="quarter" idx="4"/>
          </p:nvPr>
        </p:nvSpPr>
        <p:spPr>
          <a:xfrm>
            <a:off x="11195437" y="7468594"/>
            <a:ext cx="2047460" cy="438150"/>
          </a:xfrm>
          <a:prstGeom prst="rect">
            <a:avLst/>
          </a:prstGeom>
        </p:spPr>
        <p:txBody>
          <a:bodyPr vert="horz" lIns="91440" tIns="45720" rIns="91440" bIns="45720" rtlCol="0" anchor="ctr"/>
          <a:lstStyle>
            <a:lvl1pPr algn="r">
              <a:defRPr sz="1440">
                <a:solidFill>
                  <a:schemeClr val="accent1"/>
                </a:solidFill>
              </a:defRPr>
            </a:lvl1pPr>
          </a:lstStyle>
          <a:p>
            <a:fld id="{4FAB73BC-B049-4115-A692-8D63A059BFB8}" type="slidenum">
              <a:rPr lang="en-US" dirty="0"/>
              <a:pPr/>
              <a:t>‹#›</a:t>
            </a:fld>
            <a:endParaRPr lang="en-US" dirty="0"/>
          </a:p>
        </p:txBody>
      </p:sp>
    </p:spTree>
    <p:extLst>
      <p:ext uri="{BB962C8B-B14F-4D97-AF65-F5344CB8AC3E}">
        <p14:creationId xmlns:p14="http://schemas.microsoft.com/office/powerpoint/2010/main" val="247546533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Lst>
  <p:hf sldNum="0" hdr="0" ftr="0" dt="0"/>
  <p:txStyles>
    <p:titleStyle>
      <a:lvl1pPr algn="l" defTabSz="1097280" rtl="0" eaLnBrk="1" latinLnBrk="0" hangingPunct="1">
        <a:lnSpc>
          <a:spcPct val="90000"/>
        </a:lnSpc>
        <a:spcBef>
          <a:spcPct val="0"/>
        </a:spcBef>
        <a:buNone/>
        <a:defRPr sz="5280" kern="1200">
          <a:solidFill>
            <a:schemeClr val="accent1"/>
          </a:solidFill>
          <a:latin typeface="+mj-lt"/>
          <a:ea typeface="+mj-ea"/>
          <a:cs typeface="+mj-cs"/>
        </a:defRPr>
      </a:lvl1pPr>
    </p:titleStyle>
    <p:bodyStyle>
      <a:lvl1pPr marL="274320" indent="-219456" algn="l" defTabSz="1097280" rtl="0" eaLnBrk="1" latinLnBrk="0" hangingPunct="1">
        <a:lnSpc>
          <a:spcPct val="90000"/>
        </a:lnSpc>
        <a:spcBef>
          <a:spcPts val="1680"/>
        </a:spcBef>
        <a:buClr>
          <a:schemeClr val="accent1"/>
        </a:buClr>
        <a:buSzPct val="80000"/>
        <a:buFont typeface="Corbel" pitchFamily="34" charset="0"/>
        <a:buChar char="•"/>
        <a:defRPr sz="2640" kern="1200">
          <a:solidFill>
            <a:schemeClr val="accent1"/>
          </a:solidFill>
          <a:latin typeface="+mn-lt"/>
          <a:ea typeface="+mn-ea"/>
          <a:cs typeface="+mn-cs"/>
        </a:defRPr>
      </a:lvl1pPr>
      <a:lvl2pPr marL="548640" indent="-219456" algn="l" defTabSz="1097280" rtl="0" eaLnBrk="1" latinLnBrk="0" hangingPunct="1">
        <a:lnSpc>
          <a:spcPct val="90000"/>
        </a:lnSpc>
        <a:spcBef>
          <a:spcPts val="240"/>
        </a:spcBef>
        <a:spcAft>
          <a:spcPts val="480"/>
        </a:spcAft>
        <a:buClr>
          <a:schemeClr val="accent1"/>
        </a:buClr>
        <a:buSzPct val="80000"/>
        <a:buFont typeface="Corbel" pitchFamily="34" charset="0"/>
        <a:buChar char="•"/>
        <a:defRPr sz="2400" kern="1200">
          <a:solidFill>
            <a:schemeClr val="accent1"/>
          </a:solidFill>
          <a:latin typeface="+mn-lt"/>
          <a:ea typeface="+mn-ea"/>
          <a:cs typeface="+mn-cs"/>
        </a:defRPr>
      </a:lvl2pPr>
      <a:lvl3pPr marL="877824" indent="-219456" algn="l" defTabSz="1097280" rtl="0" eaLnBrk="1" latinLnBrk="0" hangingPunct="1">
        <a:lnSpc>
          <a:spcPct val="90000"/>
        </a:lnSpc>
        <a:spcBef>
          <a:spcPts val="240"/>
        </a:spcBef>
        <a:spcAft>
          <a:spcPts val="480"/>
        </a:spcAft>
        <a:buClr>
          <a:schemeClr val="accent1"/>
        </a:buClr>
        <a:buSzPct val="80000"/>
        <a:buFont typeface="Corbel" pitchFamily="34" charset="0"/>
        <a:buChar char="•"/>
        <a:defRPr sz="2160" kern="1200">
          <a:solidFill>
            <a:schemeClr val="accent1"/>
          </a:solidFill>
          <a:latin typeface="+mn-lt"/>
          <a:ea typeface="+mn-ea"/>
          <a:cs typeface="+mn-cs"/>
        </a:defRPr>
      </a:lvl3pPr>
      <a:lvl4pPr marL="1207008" indent="-219456" algn="l" defTabSz="1097280" rtl="0" eaLnBrk="1" latinLnBrk="0" hangingPunct="1">
        <a:lnSpc>
          <a:spcPct val="90000"/>
        </a:lnSpc>
        <a:spcBef>
          <a:spcPts val="240"/>
        </a:spcBef>
        <a:spcAft>
          <a:spcPts val="480"/>
        </a:spcAft>
        <a:buClr>
          <a:schemeClr val="accent1"/>
        </a:buClr>
        <a:buSzPct val="80000"/>
        <a:buFont typeface="Corbel" pitchFamily="34" charset="0"/>
        <a:buChar char="•"/>
        <a:defRPr sz="1920" kern="1200">
          <a:solidFill>
            <a:schemeClr val="accent1"/>
          </a:solidFill>
          <a:latin typeface="+mn-lt"/>
          <a:ea typeface="+mn-ea"/>
          <a:cs typeface="+mn-cs"/>
        </a:defRPr>
      </a:lvl4pPr>
      <a:lvl5pPr marL="1536192" indent="-219456" algn="l" defTabSz="1097280" rtl="0" eaLnBrk="1" latinLnBrk="0" hangingPunct="1">
        <a:lnSpc>
          <a:spcPct val="90000"/>
        </a:lnSpc>
        <a:spcBef>
          <a:spcPts val="240"/>
        </a:spcBef>
        <a:spcAft>
          <a:spcPts val="480"/>
        </a:spcAft>
        <a:buClr>
          <a:schemeClr val="accent1"/>
        </a:buClr>
        <a:buSzPct val="80000"/>
        <a:buFont typeface="Corbel" pitchFamily="34" charset="0"/>
        <a:buChar char="•"/>
        <a:defRPr sz="1920" kern="1200">
          <a:solidFill>
            <a:schemeClr val="accent1"/>
          </a:solidFill>
          <a:latin typeface="+mn-lt"/>
          <a:ea typeface="+mn-ea"/>
          <a:cs typeface="+mn-cs"/>
        </a:defRPr>
      </a:lvl5pPr>
      <a:lvl6pPr marL="1920000" indent="-274320" algn="l" defTabSz="1097280" rtl="0" eaLnBrk="1" latinLnBrk="0" hangingPunct="1">
        <a:lnSpc>
          <a:spcPct val="90000"/>
        </a:lnSpc>
        <a:spcBef>
          <a:spcPts val="240"/>
        </a:spcBef>
        <a:spcAft>
          <a:spcPts val="480"/>
        </a:spcAft>
        <a:buClr>
          <a:schemeClr val="accent1"/>
        </a:buClr>
        <a:buSzPct val="80000"/>
        <a:buFont typeface="Corbel" pitchFamily="34" charset="0"/>
        <a:buChar char="•"/>
        <a:defRPr sz="1920" kern="1200">
          <a:solidFill>
            <a:schemeClr val="accent1"/>
          </a:solidFill>
          <a:latin typeface="+mn-lt"/>
          <a:ea typeface="+mn-ea"/>
          <a:cs typeface="+mn-cs"/>
        </a:defRPr>
      </a:lvl6pPr>
      <a:lvl7pPr marL="2280000" indent="-274320" algn="l" defTabSz="1097280" rtl="0" eaLnBrk="1" latinLnBrk="0" hangingPunct="1">
        <a:lnSpc>
          <a:spcPct val="90000"/>
        </a:lnSpc>
        <a:spcBef>
          <a:spcPts val="240"/>
        </a:spcBef>
        <a:spcAft>
          <a:spcPts val="480"/>
        </a:spcAft>
        <a:buClr>
          <a:schemeClr val="accent1"/>
        </a:buClr>
        <a:buSzPct val="80000"/>
        <a:buFont typeface="Corbel" pitchFamily="34" charset="0"/>
        <a:buChar char="•"/>
        <a:defRPr sz="1920" kern="1200">
          <a:solidFill>
            <a:schemeClr val="accent1"/>
          </a:solidFill>
          <a:latin typeface="+mn-lt"/>
          <a:ea typeface="+mn-ea"/>
          <a:cs typeface="+mn-cs"/>
        </a:defRPr>
      </a:lvl7pPr>
      <a:lvl8pPr marL="2640000" indent="-274320" algn="l" defTabSz="1097280" rtl="0" eaLnBrk="1" latinLnBrk="0" hangingPunct="1">
        <a:lnSpc>
          <a:spcPct val="90000"/>
        </a:lnSpc>
        <a:spcBef>
          <a:spcPts val="240"/>
        </a:spcBef>
        <a:spcAft>
          <a:spcPts val="480"/>
        </a:spcAft>
        <a:buClr>
          <a:schemeClr val="accent1"/>
        </a:buClr>
        <a:buSzPct val="80000"/>
        <a:buFont typeface="Corbel" pitchFamily="34" charset="0"/>
        <a:buChar char="•"/>
        <a:defRPr sz="1920" kern="1200">
          <a:solidFill>
            <a:schemeClr val="accent1"/>
          </a:solidFill>
          <a:latin typeface="+mn-lt"/>
          <a:ea typeface="+mn-ea"/>
          <a:cs typeface="+mn-cs"/>
        </a:defRPr>
      </a:lvl8pPr>
      <a:lvl9pPr marL="3000000" indent="-274320" algn="l" defTabSz="1097280" rtl="0" eaLnBrk="1" latinLnBrk="0" hangingPunct="1">
        <a:lnSpc>
          <a:spcPct val="90000"/>
        </a:lnSpc>
        <a:spcBef>
          <a:spcPts val="240"/>
        </a:spcBef>
        <a:spcAft>
          <a:spcPts val="480"/>
        </a:spcAft>
        <a:buClr>
          <a:schemeClr val="accent1"/>
        </a:buClr>
        <a:buSzPct val="80000"/>
        <a:buFont typeface="Corbel" pitchFamily="34" charset="0"/>
        <a:buChar char="•"/>
        <a:defRPr sz="1920" kern="1200">
          <a:solidFill>
            <a:schemeClr val="accent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4.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5.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 Id="rId9" Type="http://schemas.openxmlformats.org/officeDocument/2006/relationships/image" Target="../media/image12.png"/></Relationships>
</file>

<file path=ppt/slides/_rels/slide5.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16.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19.xml"/><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1605395" y="726097"/>
            <a:ext cx="11419609" cy="999888"/>
          </a:xfrm>
          <a:prstGeom prst="rect">
            <a:avLst/>
          </a:prstGeom>
          <a:noFill/>
          <a:ln/>
        </p:spPr>
        <p:txBody>
          <a:bodyPr wrap="none" lIns="0" tIns="0" rIns="0" bIns="0" rtlCol="0" anchor="t"/>
          <a:lstStyle/>
          <a:p>
            <a:pPr marL="0" indent="0" algn="ctr">
              <a:lnSpc>
                <a:spcPts val="3300"/>
              </a:lnSpc>
              <a:buNone/>
            </a:pPr>
            <a:r>
              <a:rPr lang="en-US" sz="4000" dirty="0">
                <a:solidFill>
                  <a:srgbClr val="2E3C4E"/>
                </a:solidFill>
                <a:latin typeface="Host Grotesk Medium" pitchFamily="34" charset="0"/>
                <a:ea typeface="Host Grotesk Medium" pitchFamily="34" charset="-122"/>
                <a:cs typeface="Host Grotesk Medium" pitchFamily="34" charset="-120"/>
              </a:rPr>
              <a:t>High Value Metal Extraction from E-waste using </a:t>
            </a:r>
          </a:p>
          <a:p>
            <a:pPr marL="0" indent="0" algn="ctr">
              <a:lnSpc>
                <a:spcPts val="3300"/>
              </a:lnSpc>
              <a:buNone/>
            </a:pPr>
            <a:r>
              <a:rPr lang="en-US" sz="4000" dirty="0">
                <a:solidFill>
                  <a:srgbClr val="2E3C4E"/>
                </a:solidFill>
                <a:latin typeface="Host Grotesk Medium" pitchFamily="34" charset="0"/>
                <a:ea typeface="Host Grotesk Medium" pitchFamily="34" charset="-122"/>
                <a:cs typeface="Host Grotesk Medium" pitchFamily="34" charset="-120"/>
              </a:rPr>
              <a:t>Microorganisms</a:t>
            </a:r>
            <a:endParaRPr lang="en-US" sz="4000" dirty="0"/>
          </a:p>
        </p:txBody>
      </p:sp>
      <p:pic>
        <p:nvPicPr>
          <p:cNvPr id="6" name="Image 0" descr="preencoded.png"/>
          <p:cNvPicPr>
            <a:picLocks noChangeAspect="1"/>
          </p:cNvPicPr>
          <p:nvPr/>
        </p:nvPicPr>
        <p:blipFill>
          <a:blip r:embed="rId3"/>
          <a:stretch>
            <a:fillRect/>
          </a:stretch>
        </p:blipFill>
        <p:spPr>
          <a:xfrm>
            <a:off x="3313662" y="3480955"/>
            <a:ext cx="8003075" cy="4022548"/>
          </a:xfrm>
          <a:prstGeom prst="rect">
            <a:avLst/>
          </a:prstGeom>
        </p:spPr>
      </p:pic>
      <p:sp>
        <p:nvSpPr>
          <p:cNvPr id="8" name="TextBox 7">
            <a:extLst>
              <a:ext uri="{FF2B5EF4-FFF2-40B4-BE49-F238E27FC236}">
                <a16:creationId xmlns:a16="http://schemas.microsoft.com/office/drawing/2014/main" id="{C25F3EB5-0393-1AF4-CACE-8F44546A5BE0}"/>
              </a:ext>
            </a:extLst>
          </p:cNvPr>
          <p:cNvSpPr txBox="1"/>
          <p:nvPr/>
        </p:nvSpPr>
        <p:spPr>
          <a:xfrm>
            <a:off x="436418" y="2005445"/>
            <a:ext cx="13726391" cy="923330"/>
          </a:xfrm>
          <a:prstGeom prst="rect">
            <a:avLst/>
          </a:prstGeom>
          <a:noFill/>
        </p:spPr>
        <p:txBody>
          <a:bodyPr wrap="square" rtlCol="0">
            <a:spAutoFit/>
          </a:bodyPr>
          <a:lstStyle/>
          <a:p>
            <a:pPr algn="just"/>
            <a:r>
              <a:rPr lang="en-US" b="1" dirty="0"/>
              <a:t>Problem Statement(according to the website): </a:t>
            </a:r>
            <a:r>
              <a:rPr lang="en-US" dirty="0"/>
              <a:t>The world today faces a range of pressing environmental challenges – from inefficient waste management and excessive carbon footprints to unsustainable energy consumption and poor recycling practices. As technology continues to shape our world, it is imperative that we leverage it to build a more sustainable, eco-conscious future.</a:t>
            </a:r>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84359" y="459105"/>
            <a:ext cx="4174331" cy="521732"/>
          </a:xfrm>
          <a:prstGeom prst="rect">
            <a:avLst/>
          </a:prstGeom>
          <a:noFill/>
          <a:ln/>
        </p:spPr>
        <p:txBody>
          <a:bodyPr wrap="none" lIns="0" tIns="0" rIns="0" bIns="0" rtlCol="0" anchor="t"/>
          <a:lstStyle/>
          <a:p>
            <a:pPr marL="0" indent="0" algn="l">
              <a:lnSpc>
                <a:spcPts val="4100"/>
              </a:lnSpc>
              <a:buNone/>
            </a:pPr>
            <a:r>
              <a:rPr lang="en-US" sz="3250" dirty="0">
                <a:solidFill>
                  <a:srgbClr val="2E3C4E"/>
                </a:solidFill>
                <a:latin typeface="Host Grotesk Medium" pitchFamily="34" charset="0"/>
                <a:ea typeface="Host Grotesk Medium" pitchFamily="34" charset="-122"/>
                <a:cs typeface="Host Grotesk Medium" pitchFamily="34" charset="-120"/>
              </a:rPr>
              <a:t>Problem Statement According To Our Solution:</a:t>
            </a:r>
            <a:endParaRPr lang="en-US" sz="3250" dirty="0"/>
          </a:p>
        </p:txBody>
      </p:sp>
      <p:sp>
        <p:nvSpPr>
          <p:cNvPr id="3" name="Shape 1"/>
          <p:cNvSpPr/>
          <p:nvPr/>
        </p:nvSpPr>
        <p:spPr>
          <a:xfrm>
            <a:off x="584359" y="1314688"/>
            <a:ext cx="4375904" cy="1491734"/>
          </a:xfrm>
          <a:prstGeom prst="roundRect">
            <a:avLst>
              <a:gd name="adj" fmla="val 7356"/>
            </a:avLst>
          </a:prstGeom>
          <a:solidFill>
            <a:srgbClr val="C7E0E7"/>
          </a:solidFill>
          <a:ln w="22860">
            <a:solidFill>
              <a:srgbClr val="BFD3D8"/>
            </a:solidFill>
            <a:prstDash val="solid"/>
          </a:ln>
        </p:spPr>
        <p:txBody>
          <a:bodyPr/>
          <a:lstStyle/>
          <a:p>
            <a:endParaRPr lang="en-IN"/>
          </a:p>
        </p:txBody>
      </p:sp>
      <p:pic>
        <p:nvPicPr>
          <p:cNvPr id="4" name="Image 0" descr="preencoded.png"/>
          <p:cNvPicPr>
            <a:picLocks noChangeAspect="1"/>
          </p:cNvPicPr>
          <p:nvPr/>
        </p:nvPicPr>
        <p:blipFill>
          <a:blip r:embed="rId3"/>
          <a:stretch>
            <a:fillRect/>
          </a:stretch>
        </p:blipFill>
        <p:spPr>
          <a:xfrm>
            <a:off x="561499" y="1314688"/>
            <a:ext cx="91440" cy="1491734"/>
          </a:xfrm>
          <a:prstGeom prst="rect">
            <a:avLst/>
          </a:prstGeom>
        </p:spPr>
      </p:pic>
      <p:sp>
        <p:nvSpPr>
          <p:cNvPr id="5" name="Text 2"/>
          <p:cNvSpPr/>
          <p:nvPr/>
        </p:nvSpPr>
        <p:spPr>
          <a:xfrm>
            <a:off x="842724" y="1504474"/>
            <a:ext cx="2219682" cy="260866"/>
          </a:xfrm>
          <a:prstGeom prst="rect">
            <a:avLst/>
          </a:prstGeom>
          <a:noFill/>
          <a:ln/>
        </p:spPr>
        <p:txBody>
          <a:bodyPr wrap="none" lIns="0" tIns="0" rIns="0" bIns="0" rtlCol="0" anchor="t"/>
          <a:lstStyle/>
          <a:p>
            <a:pPr marL="0" indent="0" algn="l">
              <a:lnSpc>
                <a:spcPts val="2050"/>
              </a:lnSpc>
              <a:buNone/>
            </a:pPr>
            <a:r>
              <a:rPr lang="en-US" dirty="0">
                <a:solidFill>
                  <a:srgbClr val="384653"/>
                </a:solidFill>
                <a:latin typeface="Host Grotesk Medium" pitchFamily="34" charset="0"/>
                <a:ea typeface="Host Grotesk Medium" pitchFamily="34" charset="-122"/>
                <a:cs typeface="Host Grotesk Medium" pitchFamily="34" charset="-120"/>
              </a:rPr>
              <a:t>Growing E-waste Crisis</a:t>
            </a:r>
            <a:endParaRPr lang="en-US" dirty="0"/>
          </a:p>
        </p:txBody>
      </p:sp>
      <p:sp>
        <p:nvSpPr>
          <p:cNvPr id="6" name="Text 3"/>
          <p:cNvSpPr/>
          <p:nvPr/>
        </p:nvSpPr>
        <p:spPr>
          <a:xfrm>
            <a:off x="842724" y="1865471"/>
            <a:ext cx="3927753" cy="751165"/>
          </a:xfrm>
          <a:prstGeom prst="rect">
            <a:avLst/>
          </a:prstGeom>
          <a:noFill/>
          <a:ln/>
        </p:spPr>
        <p:txBody>
          <a:bodyPr wrap="square" lIns="0" tIns="0" rIns="0" bIns="0" rtlCol="0" anchor="t"/>
          <a:lstStyle/>
          <a:p>
            <a:pPr marL="0" indent="0" algn="l">
              <a:lnSpc>
                <a:spcPts val="1950"/>
              </a:lnSpc>
              <a:buNone/>
            </a:pPr>
            <a:r>
              <a:rPr lang="en-US" sz="1550" dirty="0">
                <a:solidFill>
                  <a:srgbClr val="384653"/>
                </a:solidFill>
                <a:latin typeface="Roboto" pitchFamily="34" charset="0"/>
                <a:ea typeface="Roboto" pitchFamily="34" charset="-122"/>
                <a:cs typeface="Roboto" pitchFamily="34" charset="-120"/>
              </a:rPr>
              <a:t>Electronic waste is one of the fastest growing waste streams globally, with millions of tons discarded annually.</a:t>
            </a:r>
            <a:endParaRPr lang="en-US" sz="1550" dirty="0"/>
          </a:p>
        </p:txBody>
      </p:sp>
      <p:sp>
        <p:nvSpPr>
          <p:cNvPr id="7" name="Shape 4"/>
          <p:cNvSpPr/>
          <p:nvPr/>
        </p:nvSpPr>
        <p:spPr>
          <a:xfrm>
            <a:off x="5127188" y="1314688"/>
            <a:ext cx="4375904" cy="1491734"/>
          </a:xfrm>
          <a:prstGeom prst="roundRect">
            <a:avLst>
              <a:gd name="adj" fmla="val 7356"/>
            </a:avLst>
          </a:prstGeom>
          <a:solidFill>
            <a:srgbClr val="C7E0E7"/>
          </a:solidFill>
          <a:ln w="22860">
            <a:solidFill>
              <a:srgbClr val="BFD3D8"/>
            </a:solidFill>
            <a:prstDash val="solid"/>
          </a:ln>
        </p:spPr>
        <p:txBody>
          <a:bodyPr/>
          <a:lstStyle/>
          <a:p>
            <a:endParaRPr lang="en-IN"/>
          </a:p>
        </p:txBody>
      </p:sp>
      <p:pic>
        <p:nvPicPr>
          <p:cNvPr id="8" name="Image 1" descr="preencoded.png"/>
          <p:cNvPicPr>
            <a:picLocks noChangeAspect="1"/>
          </p:cNvPicPr>
          <p:nvPr/>
        </p:nvPicPr>
        <p:blipFill>
          <a:blip r:embed="rId3"/>
          <a:stretch>
            <a:fillRect/>
          </a:stretch>
        </p:blipFill>
        <p:spPr>
          <a:xfrm>
            <a:off x="5104328" y="1314688"/>
            <a:ext cx="91440" cy="1491734"/>
          </a:xfrm>
          <a:prstGeom prst="rect">
            <a:avLst/>
          </a:prstGeom>
        </p:spPr>
      </p:pic>
      <p:sp>
        <p:nvSpPr>
          <p:cNvPr id="9" name="Text 5"/>
          <p:cNvSpPr/>
          <p:nvPr/>
        </p:nvSpPr>
        <p:spPr>
          <a:xfrm>
            <a:off x="5385554" y="1504474"/>
            <a:ext cx="2087166" cy="260866"/>
          </a:xfrm>
          <a:prstGeom prst="rect">
            <a:avLst/>
          </a:prstGeom>
          <a:noFill/>
          <a:ln/>
        </p:spPr>
        <p:txBody>
          <a:bodyPr wrap="none" lIns="0" tIns="0" rIns="0" bIns="0" rtlCol="0" anchor="t"/>
          <a:lstStyle/>
          <a:p>
            <a:pPr marL="0" indent="0" algn="l">
              <a:lnSpc>
                <a:spcPts val="2050"/>
              </a:lnSpc>
              <a:buNone/>
            </a:pPr>
            <a:r>
              <a:rPr lang="en-US" dirty="0">
                <a:solidFill>
                  <a:srgbClr val="384653"/>
                </a:solidFill>
                <a:latin typeface="Host Grotesk Medium" pitchFamily="34" charset="0"/>
                <a:ea typeface="Host Grotesk Medium" pitchFamily="34" charset="-122"/>
                <a:cs typeface="Host Grotesk Medium" pitchFamily="34" charset="-120"/>
              </a:rPr>
              <a:t>Toxic Materials</a:t>
            </a:r>
            <a:endParaRPr lang="en-US" dirty="0"/>
          </a:p>
        </p:txBody>
      </p:sp>
      <p:sp>
        <p:nvSpPr>
          <p:cNvPr id="10" name="Text 6"/>
          <p:cNvSpPr/>
          <p:nvPr/>
        </p:nvSpPr>
        <p:spPr>
          <a:xfrm>
            <a:off x="5385554" y="1865471"/>
            <a:ext cx="3927753" cy="751165"/>
          </a:xfrm>
          <a:prstGeom prst="rect">
            <a:avLst/>
          </a:prstGeom>
          <a:noFill/>
          <a:ln/>
        </p:spPr>
        <p:txBody>
          <a:bodyPr wrap="square" lIns="0" tIns="0" rIns="0" bIns="0" rtlCol="0" anchor="t"/>
          <a:lstStyle/>
          <a:p>
            <a:pPr marL="0" indent="0" algn="l">
              <a:lnSpc>
                <a:spcPts val="1950"/>
              </a:lnSpc>
              <a:buNone/>
            </a:pPr>
            <a:r>
              <a:rPr lang="en-US" sz="1550" dirty="0">
                <a:solidFill>
                  <a:srgbClr val="384653"/>
                </a:solidFill>
                <a:latin typeface="Roboto" pitchFamily="34" charset="0"/>
                <a:ea typeface="Roboto" pitchFamily="34" charset="-122"/>
                <a:cs typeface="Roboto" pitchFamily="34" charset="-120"/>
              </a:rPr>
              <a:t>E-waste contains hazardous materials that contaminate soil, water, and air when improperly disposed.</a:t>
            </a:r>
            <a:endParaRPr lang="en-US" sz="1550" dirty="0"/>
          </a:p>
        </p:txBody>
      </p:sp>
      <p:sp>
        <p:nvSpPr>
          <p:cNvPr id="11" name="Shape 7"/>
          <p:cNvSpPr/>
          <p:nvPr/>
        </p:nvSpPr>
        <p:spPr>
          <a:xfrm>
            <a:off x="9670018" y="1314688"/>
            <a:ext cx="4375904" cy="1491734"/>
          </a:xfrm>
          <a:prstGeom prst="roundRect">
            <a:avLst>
              <a:gd name="adj" fmla="val 7356"/>
            </a:avLst>
          </a:prstGeom>
          <a:solidFill>
            <a:srgbClr val="C7E0E7"/>
          </a:solidFill>
          <a:ln w="22860">
            <a:solidFill>
              <a:srgbClr val="BFD3D8"/>
            </a:solidFill>
            <a:prstDash val="solid"/>
          </a:ln>
        </p:spPr>
        <p:txBody>
          <a:bodyPr/>
          <a:lstStyle/>
          <a:p>
            <a:endParaRPr lang="en-IN"/>
          </a:p>
        </p:txBody>
      </p:sp>
      <p:pic>
        <p:nvPicPr>
          <p:cNvPr id="12" name="Image 2" descr="preencoded.png"/>
          <p:cNvPicPr>
            <a:picLocks noChangeAspect="1"/>
          </p:cNvPicPr>
          <p:nvPr/>
        </p:nvPicPr>
        <p:blipFill>
          <a:blip r:embed="rId3"/>
          <a:stretch>
            <a:fillRect/>
          </a:stretch>
        </p:blipFill>
        <p:spPr>
          <a:xfrm>
            <a:off x="9647158" y="1314688"/>
            <a:ext cx="91440" cy="1491734"/>
          </a:xfrm>
          <a:prstGeom prst="rect">
            <a:avLst/>
          </a:prstGeom>
        </p:spPr>
      </p:pic>
      <p:sp>
        <p:nvSpPr>
          <p:cNvPr id="13" name="Text 8"/>
          <p:cNvSpPr/>
          <p:nvPr/>
        </p:nvSpPr>
        <p:spPr>
          <a:xfrm>
            <a:off x="9928384" y="1504474"/>
            <a:ext cx="2297549" cy="260866"/>
          </a:xfrm>
          <a:prstGeom prst="rect">
            <a:avLst/>
          </a:prstGeom>
          <a:noFill/>
          <a:ln/>
        </p:spPr>
        <p:txBody>
          <a:bodyPr wrap="none" lIns="0" tIns="0" rIns="0" bIns="0" rtlCol="0" anchor="t"/>
          <a:lstStyle/>
          <a:p>
            <a:pPr marL="0" indent="0" algn="l">
              <a:lnSpc>
                <a:spcPts val="2050"/>
              </a:lnSpc>
              <a:buNone/>
            </a:pPr>
            <a:r>
              <a:rPr lang="en-US" dirty="0">
                <a:solidFill>
                  <a:srgbClr val="384653"/>
                </a:solidFill>
                <a:latin typeface="Host Grotesk Medium" pitchFamily="34" charset="0"/>
                <a:ea typeface="Host Grotesk Medium" pitchFamily="34" charset="-122"/>
                <a:cs typeface="Host Grotesk Medium" pitchFamily="34" charset="-120"/>
              </a:rPr>
              <a:t>Valuable Resources Lost</a:t>
            </a:r>
            <a:endParaRPr lang="en-US" dirty="0"/>
          </a:p>
        </p:txBody>
      </p:sp>
      <p:sp>
        <p:nvSpPr>
          <p:cNvPr id="14" name="Text 9"/>
          <p:cNvSpPr/>
          <p:nvPr/>
        </p:nvSpPr>
        <p:spPr>
          <a:xfrm>
            <a:off x="9928384" y="1865471"/>
            <a:ext cx="3927753" cy="751165"/>
          </a:xfrm>
          <a:prstGeom prst="rect">
            <a:avLst/>
          </a:prstGeom>
          <a:noFill/>
          <a:ln/>
        </p:spPr>
        <p:txBody>
          <a:bodyPr wrap="square" lIns="0" tIns="0" rIns="0" bIns="0" rtlCol="0" anchor="t"/>
          <a:lstStyle/>
          <a:p>
            <a:pPr marL="0" indent="0" algn="l">
              <a:lnSpc>
                <a:spcPts val="1950"/>
              </a:lnSpc>
              <a:buNone/>
            </a:pPr>
            <a:r>
              <a:rPr lang="en-US" sz="1550" dirty="0">
                <a:solidFill>
                  <a:srgbClr val="384653"/>
                </a:solidFill>
                <a:latin typeface="Roboto" pitchFamily="34" charset="0"/>
                <a:ea typeface="Roboto" pitchFamily="34" charset="-122"/>
                <a:cs typeface="Roboto" pitchFamily="34" charset="-120"/>
              </a:rPr>
              <a:t>Precious metals like gold, silver, and copper in electronics are lost through conventional disposal methods.</a:t>
            </a:r>
            <a:endParaRPr lang="en-US" sz="1550" dirty="0"/>
          </a:p>
        </p:txBody>
      </p:sp>
      <p:sp>
        <p:nvSpPr>
          <p:cNvPr id="15" name="Text 10"/>
          <p:cNvSpPr/>
          <p:nvPr/>
        </p:nvSpPr>
        <p:spPr>
          <a:xfrm>
            <a:off x="4973716" y="3301961"/>
            <a:ext cx="4059674" cy="417433"/>
          </a:xfrm>
          <a:prstGeom prst="rect">
            <a:avLst/>
          </a:prstGeom>
          <a:noFill/>
          <a:ln/>
        </p:spPr>
        <p:txBody>
          <a:bodyPr wrap="none" lIns="0" tIns="0" rIns="0" bIns="0" rtlCol="0" anchor="t"/>
          <a:lstStyle/>
          <a:p>
            <a:pPr marL="0" indent="0" algn="l">
              <a:lnSpc>
                <a:spcPts val="3250"/>
              </a:lnSpc>
              <a:buNone/>
            </a:pPr>
            <a:r>
              <a:rPr lang="en-US" sz="2600" dirty="0">
                <a:solidFill>
                  <a:srgbClr val="2E3C4E"/>
                </a:solidFill>
                <a:latin typeface="Host Grotesk Medium" pitchFamily="34" charset="0"/>
                <a:ea typeface="Host Grotesk Medium" pitchFamily="34" charset="-122"/>
                <a:cs typeface="Host Grotesk Medium" pitchFamily="34" charset="-120"/>
              </a:rPr>
              <a:t>Why This Problem Matters</a:t>
            </a:r>
            <a:endParaRPr lang="en-US" sz="2600" dirty="0"/>
          </a:p>
        </p:txBody>
      </p:sp>
      <p:sp>
        <p:nvSpPr>
          <p:cNvPr id="18" name="Text 12"/>
          <p:cNvSpPr/>
          <p:nvPr/>
        </p:nvSpPr>
        <p:spPr>
          <a:xfrm>
            <a:off x="4259363" y="4872276"/>
            <a:ext cx="2087166" cy="260866"/>
          </a:xfrm>
          <a:prstGeom prst="rect">
            <a:avLst/>
          </a:prstGeom>
          <a:noFill/>
          <a:ln/>
        </p:spPr>
        <p:txBody>
          <a:bodyPr wrap="none" lIns="0" tIns="0" rIns="0" bIns="0" rtlCol="0" anchor="t"/>
          <a:lstStyle/>
          <a:p>
            <a:pPr marL="0" indent="0" algn="ctr">
              <a:lnSpc>
                <a:spcPts val="2050"/>
              </a:lnSpc>
              <a:buNone/>
            </a:pPr>
            <a:r>
              <a:rPr lang="en-US" sz="1600" dirty="0">
                <a:solidFill>
                  <a:srgbClr val="384653"/>
                </a:solidFill>
                <a:latin typeface="Host Grotesk Medium" pitchFamily="34" charset="0"/>
                <a:ea typeface="Host Grotesk Medium" pitchFamily="34" charset="-122"/>
                <a:cs typeface="Host Grotesk Medium" pitchFamily="34" charset="-120"/>
              </a:rPr>
              <a:t>Tons of E-waste</a:t>
            </a:r>
            <a:endParaRPr lang="en-US" sz="1600" dirty="0"/>
          </a:p>
        </p:txBody>
      </p:sp>
      <p:sp>
        <p:nvSpPr>
          <p:cNvPr id="19" name="Text 13"/>
          <p:cNvSpPr/>
          <p:nvPr/>
        </p:nvSpPr>
        <p:spPr>
          <a:xfrm>
            <a:off x="3723344" y="5300068"/>
            <a:ext cx="3159204" cy="250388"/>
          </a:xfrm>
          <a:prstGeom prst="rect">
            <a:avLst/>
          </a:prstGeom>
          <a:noFill/>
          <a:ln/>
        </p:spPr>
        <p:txBody>
          <a:bodyPr wrap="none" lIns="0" tIns="0" rIns="0" bIns="0" rtlCol="0" anchor="t"/>
          <a:lstStyle/>
          <a:p>
            <a:pPr marL="0" indent="0" algn="ctr">
              <a:lnSpc>
                <a:spcPts val="1950"/>
              </a:lnSpc>
              <a:buNone/>
            </a:pPr>
            <a:r>
              <a:rPr lang="en-US" sz="1550" dirty="0">
                <a:solidFill>
                  <a:srgbClr val="384653"/>
                </a:solidFill>
                <a:latin typeface="Roboto" pitchFamily="34" charset="0"/>
                <a:ea typeface="Roboto" pitchFamily="34" charset="-122"/>
                <a:cs typeface="Roboto" pitchFamily="34" charset="-120"/>
              </a:rPr>
              <a:t>Generated globally in 2019</a:t>
            </a:r>
            <a:endParaRPr lang="en-US" sz="1550" dirty="0"/>
          </a:p>
        </p:txBody>
      </p:sp>
      <p:sp>
        <p:nvSpPr>
          <p:cNvPr id="20" name="Text 14"/>
          <p:cNvSpPr/>
          <p:nvPr/>
        </p:nvSpPr>
        <p:spPr>
          <a:xfrm>
            <a:off x="7091265" y="4112777"/>
            <a:ext cx="3159323" cy="550902"/>
          </a:xfrm>
          <a:prstGeom prst="rect">
            <a:avLst/>
          </a:prstGeom>
          <a:noFill/>
          <a:ln/>
        </p:spPr>
        <p:txBody>
          <a:bodyPr wrap="none" lIns="0" tIns="0" rIns="0" bIns="0" rtlCol="0" anchor="t"/>
          <a:lstStyle/>
          <a:p>
            <a:pPr marL="0" indent="0" algn="ctr">
              <a:lnSpc>
                <a:spcPts val="4300"/>
              </a:lnSpc>
              <a:buNone/>
            </a:pPr>
            <a:r>
              <a:rPr lang="en-US" sz="4300" dirty="0">
                <a:solidFill>
                  <a:srgbClr val="384653"/>
                </a:solidFill>
                <a:latin typeface="Host Grotesk Medium" pitchFamily="34" charset="0"/>
                <a:ea typeface="Host Grotesk Medium" pitchFamily="34" charset="-122"/>
                <a:cs typeface="Host Grotesk Medium" pitchFamily="34" charset="-120"/>
              </a:rPr>
              <a:t>17.4%</a:t>
            </a:r>
            <a:endParaRPr lang="en-US" sz="4300" dirty="0"/>
          </a:p>
        </p:txBody>
      </p:sp>
      <p:sp>
        <p:nvSpPr>
          <p:cNvPr id="21" name="Text 15"/>
          <p:cNvSpPr/>
          <p:nvPr/>
        </p:nvSpPr>
        <p:spPr>
          <a:xfrm>
            <a:off x="7627284" y="4872276"/>
            <a:ext cx="2087166" cy="260866"/>
          </a:xfrm>
          <a:prstGeom prst="rect">
            <a:avLst/>
          </a:prstGeom>
          <a:noFill/>
          <a:ln/>
        </p:spPr>
        <p:txBody>
          <a:bodyPr wrap="none" lIns="0" tIns="0" rIns="0" bIns="0" rtlCol="0" anchor="t"/>
          <a:lstStyle/>
          <a:p>
            <a:pPr marL="0" indent="0" algn="ctr">
              <a:lnSpc>
                <a:spcPts val="2050"/>
              </a:lnSpc>
              <a:buNone/>
            </a:pPr>
            <a:r>
              <a:rPr lang="en-US" sz="1600" dirty="0">
                <a:solidFill>
                  <a:srgbClr val="384653"/>
                </a:solidFill>
                <a:latin typeface="Host Grotesk Medium" pitchFamily="34" charset="0"/>
                <a:ea typeface="Host Grotesk Medium" pitchFamily="34" charset="-122"/>
                <a:cs typeface="Host Grotesk Medium" pitchFamily="34" charset="-120"/>
              </a:rPr>
              <a:t>Recycling Rate</a:t>
            </a:r>
            <a:endParaRPr lang="en-US" sz="1600" dirty="0"/>
          </a:p>
        </p:txBody>
      </p:sp>
      <p:sp>
        <p:nvSpPr>
          <p:cNvPr id="22" name="Text 16"/>
          <p:cNvSpPr/>
          <p:nvPr/>
        </p:nvSpPr>
        <p:spPr>
          <a:xfrm>
            <a:off x="7091265" y="5300068"/>
            <a:ext cx="3159323" cy="250388"/>
          </a:xfrm>
          <a:prstGeom prst="rect">
            <a:avLst/>
          </a:prstGeom>
          <a:noFill/>
          <a:ln/>
        </p:spPr>
        <p:txBody>
          <a:bodyPr wrap="none" lIns="0" tIns="0" rIns="0" bIns="0" rtlCol="0" anchor="t"/>
          <a:lstStyle/>
          <a:p>
            <a:pPr marL="0" indent="0" algn="ctr">
              <a:lnSpc>
                <a:spcPts val="1950"/>
              </a:lnSpc>
              <a:buNone/>
            </a:pPr>
            <a:r>
              <a:rPr lang="en-US" sz="1550" dirty="0">
                <a:solidFill>
                  <a:srgbClr val="384653"/>
                </a:solidFill>
                <a:latin typeface="Roboto" pitchFamily="34" charset="0"/>
                <a:ea typeface="Roboto" pitchFamily="34" charset="-122"/>
                <a:cs typeface="Roboto" pitchFamily="34" charset="-120"/>
              </a:rPr>
              <a:t>Only a fraction properly recycled</a:t>
            </a:r>
            <a:endParaRPr lang="en-US" sz="1550" dirty="0"/>
          </a:p>
        </p:txBody>
      </p:sp>
      <p:sp>
        <p:nvSpPr>
          <p:cNvPr id="23" name="Text 17"/>
          <p:cNvSpPr/>
          <p:nvPr/>
        </p:nvSpPr>
        <p:spPr>
          <a:xfrm>
            <a:off x="5407245" y="5967770"/>
            <a:ext cx="3159323" cy="550902"/>
          </a:xfrm>
          <a:prstGeom prst="rect">
            <a:avLst/>
          </a:prstGeom>
          <a:noFill/>
          <a:ln/>
        </p:spPr>
        <p:txBody>
          <a:bodyPr wrap="none" lIns="0" tIns="0" rIns="0" bIns="0" rtlCol="0" anchor="t"/>
          <a:lstStyle/>
          <a:p>
            <a:pPr marL="0" indent="0" algn="ctr">
              <a:lnSpc>
                <a:spcPts val="4300"/>
              </a:lnSpc>
              <a:buNone/>
            </a:pPr>
            <a:r>
              <a:rPr lang="en-US" sz="4300" dirty="0">
                <a:solidFill>
                  <a:srgbClr val="384653"/>
                </a:solidFill>
                <a:latin typeface="Host Grotesk Medium" pitchFamily="34" charset="0"/>
                <a:ea typeface="Host Grotesk Medium" pitchFamily="34" charset="-122"/>
                <a:cs typeface="Host Grotesk Medium" pitchFamily="34" charset="-120"/>
              </a:rPr>
              <a:t>$57B</a:t>
            </a:r>
            <a:endParaRPr lang="en-US" sz="4300" dirty="0"/>
          </a:p>
        </p:txBody>
      </p:sp>
      <p:sp>
        <p:nvSpPr>
          <p:cNvPr id="24" name="Text 18"/>
          <p:cNvSpPr/>
          <p:nvPr/>
        </p:nvSpPr>
        <p:spPr>
          <a:xfrm>
            <a:off x="5943264" y="6727270"/>
            <a:ext cx="2087166" cy="260866"/>
          </a:xfrm>
          <a:prstGeom prst="rect">
            <a:avLst/>
          </a:prstGeom>
          <a:noFill/>
          <a:ln/>
        </p:spPr>
        <p:txBody>
          <a:bodyPr wrap="none" lIns="0" tIns="0" rIns="0" bIns="0" rtlCol="0" anchor="t"/>
          <a:lstStyle/>
          <a:p>
            <a:pPr marL="0" indent="0" algn="ctr">
              <a:lnSpc>
                <a:spcPts val="2050"/>
              </a:lnSpc>
              <a:buNone/>
            </a:pPr>
            <a:r>
              <a:rPr lang="en-US" sz="1600" dirty="0">
                <a:solidFill>
                  <a:srgbClr val="384653"/>
                </a:solidFill>
                <a:latin typeface="Host Grotesk Medium" pitchFamily="34" charset="0"/>
                <a:ea typeface="Host Grotesk Medium" pitchFamily="34" charset="-122"/>
                <a:cs typeface="Host Grotesk Medium" pitchFamily="34" charset="-120"/>
              </a:rPr>
              <a:t>Value Lost</a:t>
            </a:r>
            <a:endParaRPr lang="en-US" sz="1600" dirty="0"/>
          </a:p>
        </p:txBody>
      </p:sp>
      <p:sp>
        <p:nvSpPr>
          <p:cNvPr id="25" name="Text 19"/>
          <p:cNvSpPr/>
          <p:nvPr/>
        </p:nvSpPr>
        <p:spPr>
          <a:xfrm>
            <a:off x="5407245" y="7155062"/>
            <a:ext cx="3159323" cy="250388"/>
          </a:xfrm>
          <a:prstGeom prst="rect">
            <a:avLst/>
          </a:prstGeom>
          <a:noFill/>
          <a:ln/>
        </p:spPr>
        <p:txBody>
          <a:bodyPr wrap="none" lIns="0" tIns="0" rIns="0" bIns="0" rtlCol="0" anchor="t"/>
          <a:lstStyle/>
          <a:p>
            <a:pPr marL="0" indent="0" algn="ctr">
              <a:lnSpc>
                <a:spcPts val="1950"/>
              </a:lnSpc>
              <a:buNone/>
            </a:pPr>
            <a:r>
              <a:rPr lang="en-US" sz="1550" dirty="0">
                <a:solidFill>
                  <a:srgbClr val="384653"/>
                </a:solidFill>
                <a:latin typeface="Roboto" pitchFamily="34" charset="0"/>
                <a:ea typeface="Roboto" pitchFamily="34" charset="-122"/>
                <a:cs typeface="Roboto" pitchFamily="34" charset="-120"/>
              </a:rPr>
              <a:t>In recoverable materials annually</a:t>
            </a:r>
            <a:endParaRPr lang="en-US" sz="1550" dirty="0"/>
          </a:p>
        </p:txBody>
      </p:sp>
      <p:sp>
        <p:nvSpPr>
          <p:cNvPr id="27" name="Text 11">
            <a:extLst>
              <a:ext uri="{FF2B5EF4-FFF2-40B4-BE49-F238E27FC236}">
                <a16:creationId xmlns:a16="http://schemas.microsoft.com/office/drawing/2014/main" id="{373D5363-74C9-DAD1-78E8-F929B83CF597}"/>
              </a:ext>
            </a:extLst>
          </p:cNvPr>
          <p:cNvSpPr/>
          <p:nvPr/>
        </p:nvSpPr>
        <p:spPr>
          <a:xfrm>
            <a:off x="3712617" y="4112777"/>
            <a:ext cx="3159204" cy="550902"/>
          </a:xfrm>
          <a:prstGeom prst="rect">
            <a:avLst/>
          </a:prstGeom>
          <a:noFill/>
          <a:ln/>
        </p:spPr>
        <p:txBody>
          <a:bodyPr wrap="none" lIns="0" tIns="0" rIns="0" bIns="0" rtlCol="0" anchor="t"/>
          <a:lstStyle/>
          <a:p>
            <a:pPr marL="0" indent="0" algn="ctr">
              <a:lnSpc>
                <a:spcPts val="4300"/>
              </a:lnSpc>
              <a:buNone/>
            </a:pPr>
            <a:r>
              <a:rPr lang="en-US" sz="4300" dirty="0">
                <a:solidFill>
                  <a:srgbClr val="384653"/>
                </a:solidFill>
                <a:latin typeface="Host Grotesk Medium" pitchFamily="34" charset="0"/>
                <a:ea typeface="Host Grotesk Medium" pitchFamily="34" charset="-122"/>
                <a:cs typeface="Host Grotesk Medium" pitchFamily="34" charset="-120"/>
              </a:rPr>
              <a:t>53.6M</a:t>
            </a:r>
            <a:endParaRPr lang="en-US" sz="4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95682" y="682347"/>
            <a:ext cx="7059216" cy="621149"/>
          </a:xfrm>
          <a:prstGeom prst="rect">
            <a:avLst/>
          </a:prstGeom>
          <a:noFill/>
          <a:ln/>
        </p:spPr>
        <p:txBody>
          <a:bodyPr wrap="none" lIns="0" tIns="0" rIns="0" bIns="0" rtlCol="0" anchor="t"/>
          <a:lstStyle/>
          <a:p>
            <a:pPr marL="0" indent="0" algn="l">
              <a:lnSpc>
                <a:spcPts val="4850"/>
              </a:lnSpc>
              <a:buNone/>
            </a:pPr>
            <a:r>
              <a:rPr lang="en-US" sz="3900" dirty="0">
                <a:solidFill>
                  <a:srgbClr val="2E3C4E"/>
                </a:solidFill>
                <a:latin typeface="Host Grotesk Medium" pitchFamily="34" charset="0"/>
                <a:ea typeface="Host Grotesk Medium" pitchFamily="34" charset="-122"/>
                <a:cs typeface="Host Grotesk Medium" pitchFamily="34" charset="-120"/>
              </a:rPr>
              <a:t>Existing Solutions &amp; Limitations</a:t>
            </a:r>
            <a:endParaRPr lang="en-US" sz="3900" dirty="0"/>
          </a:p>
        </p:txBody>
      </p:sp>
      <p:sp>
        <p:nvSpPr>
          <p:cNvPr id="3" name="Shape 1"/>
          <p:cNvSpPr/>
          <p:nvPr/>
        </p:nvSpPr>
        <p:spPr>
          <a:xfrm>
            <a:off x="695682" y="1700927"/>
            <a:ext cx="13239036" cy="2519720"/>
          </a:xfrm>
          <a:prstGeom prst="roundRect">
            <a:avLst>
              <a:gd name="adj" fmla="val 3313"/>
            </a:avLst>
          </a:prstGeom>
          <a:noFill/>
          <a:ln w="7620">
            <a:solidFill>
              <a:srgbClr val="000000">
                <a:alpha val="8000"/>
              </a:srgbClr>
            </a:solidFill>
            <a:prstDash val="solid"/>
          </a:ln>
        </p:spPr>
        <p:txBody>
          <a:bodyPr/>
          <a:lstStyle/>
          <a:p>
            <a:endParaRPr lang="en-IN"/>
          </a:p>
        </p:txBody>
      </p:sp>
      <p:sp>
        <p:nvSpPr>
          <p:cNvPr id="4" name="Shape 2"/>
          <p:cNvSpPr/>
          <p:nvPr/>
        </p:nvSpPr>
        <p:spPr>
          <a:xfrm>
            <a:off x="703302" y="1708547"/>
            <a:ext cx="13223796" cy="551617"/>
          </a:xfrm>
          <a:prstGeom prst="rect">
            <a:avLst/>
          </a:prstGeom>
          <a:solidFill>
            <a:srgbClr val="FFFFFF">
              <a:alpha val="4000"/>
            </a:srgbClr>
          </a:solidFill>
          <a:ln/>
        </p:spPr>
        <p:txBody>
          <a:bodyPr/>
          <a:lstStyle/>
          <a:p>
            <a:endParaRPr lang="en-IN"/>
          </a:p>
        </p:txBody>
      </p:sp>
      <p:sp>
        <p:nvSpPr>
          <p:cNvPr id="5" name="Text 3"/>
          <p:cNvSpPr/>
          <p:nvPr/>
        </p:nvSpPr>
        <p:spPr>
          <a:xfrm>
            <a:off x="902137" y="1835348"/>
            <a:ext cx="3565803" cy="298013"/>
          </a:xfrm>
          <a:prstGeom prst="rect">
            <a:avLst/>
          </a:prstGeom>
          <a:noFill/>
          <a:ln/>
        </p:spPr>
        <p:txBody>
          <a:bodyPr wrap="none" lIns="0" tIns="0" rIns="0" bIns="0" rtlCol="0" anchor="t"/>
          <a:lstStyle/>
          <a:p>
            <a:pPr marL="0" indent="0" algn="l">
              <a:lnSpc>
                <a:spcPts val="2300"/>
              </a:lnSpc>
              <a:buNone/>
            </a:pPr>
            <a:r>
              <a:rPr lang="en-US" sz="1550" b="1" dirty="0">
                <a:solidFill>
                  <a:srgbClr val="384653"/>
                </a:solidFill>
                <a:latin typeface="Roboto" pitchFamily="34" charset="0"/>
                <a:ea typeface="Roboto" pitchFamily="34" charset="-122"/>
                <a:cs typeface="Roboto" pitchFamily="34" charset="-120"/>
              </a:rPr>
              <a:t>Method</a:t>
            </a:r>
            <a:endParaRPr lang="en-US" sz="1550" dirty="0"/>
          </a:p>
        </p:txBody>
      </p:sp>
      <p:sp>
        <p:nvSpPr>
          <p:cNvPr id="6" name="Text 4"/>
          <p:cNvSpPr/>
          <p:nvPr/>
        </p:nvSpPr>
        <p:spPr>
          <a:xfrm>
            <a:off x="4872990" y="1835348"/>
            <a:ext cx="4223266" cy="298013"/>
          </a:xfrm>
          <a:prstGeom prst="rect">
            <a:avLst/>
          </a:prstGeom>
          <a:noFill/>
          <a:ln/>
        </p:spPr>
        <p:txBody>
          <a:bodyPr wrap="none" lIns="0" tIns="0" rIns="0" bIns="0" rtlCol="0" anchor="t"/>
          <a:lstStyle/>
          <a:p>
            <a:pPr marL="0" indent="0" algn="l">
              <a:lnSpc>
                <a:spcPts val="2300"/>
              </a:lnSpc>
              <a:buNone/>
            </a:pPr>
            <a:r>
              <a:rPr lang="en-US" sz="1550" b="1" dirty="0">
                <a:solidFill>
                  <a:srgbClr val="384653"/>
                </a:solidFill>
                <a:latin typeface="Roboto" pitchFamily="34" charset="0"/>
                <a:ea typeface="Roboto" pitchFamily="34" charset="-122"/>
                <a:cs typeface="Roboto" pitchFamily="34" charset="-120"/>
              </a:rPr>
              <a:t>Advantages</a:t>
            </a:r>
            <a:endParaRPr lang="en-US" sz="1550" dirty="0"/>
          </a:p>
        </p:txBody>
      </p:sp>
      <p:sp>
        <p:nvSpPr>
          <p:cNvPr id="7" name="Text 5"/>
          <p:cNvSpPr/>
          <p:nvPr/>
        </p:nvSpPr>
        <p:spPr>
          <a:xfrm>
            <a:off x="9501307" y="1835348"/>
            <a:ext cx="4227076" cy="298013"/>
          </a:xfrm>
          <a:prstGeom prst="rect">
            <a:avLst/>
          </a:prstGeom>
          <a:noFill/>
          <a:ln/>
        </p:spPr>
        <p:txBody>
          <a:bodyPr wrap="none" lIns="0" tIns="0" rIns="0" bIns="0" rtlCol="0" anchor="t"/>
          <a:lstStyle/>
          <a:p>
            <a:pPr marL="0" indent="0" algn="l">
              <a:lnSpc>
                <a:spcPts val="2300"/>
              </a:lnSpc>
              <a:buNone/>
            </a:pPr>
            <a:r>
              <a:rPr lang="en-US" sz="1550" b="1" dirty="0">
                <a:solidFill>
                  <a:srgbClr val="384653"/>
                </a:solidFill>
                <a:latin typeface="Roboto" pitchFamily="34" charset="0"/>
                <a:ea typeface="Roboto" pitchFamily="34" charset="-122"/>
                <a:cs typeface="Roboto" pitchFamily="34" charset="-120"/>
              </a:rPr>
              <a:t>Limitations</a:t>
            </a:r>
            <a:endParaRPr lang="en-US" sz="1550" dirty="0"/>
          </a:p>
        </p:txBody>
      </p:sp>
      <p:sp>
        <p:nvSpPr>
          <p:cNvPr id="8" name="Shape 6"/>
          <p:cNvSpPr/>
          <p:nvPr/>
        </p:nvSpPr>
        <p:spPr>
          <a:xfrm>
            <a:off x="703302" y="2260163"/>
            <a:ext cx="13223796" cy="551617"/>
          </a:xfrm>
          <a:prstGeom prst="rect">
            <a:avLst/>
          </a:prstGeom>
          <a:solidFill>
            <a:srgbClr val="000000">
              <a:alpha val="4000"/>
            </a:srgbClr>
          </a:solidFill>
          <a:ln/>
        </p:spPr>
        <p:txBody>
          <a:bodyPr/>
          <a:lstStyle/>
          <a:p>
            <a:endParaRPr lang="en-IN"/>
          </a:p>
        </p:txBody>
      </p:sp>
      <p:sp>
        <p:nvSpPr>
          <p:cNvPr id="9" name="Text 7"/>
          <p:cNvSpPr/>
          <p:nvPr/>
        </p:nvSpPr>
        <p:spPr>
          <a:xfrm>
            <a:off x="902137" y="2386965"/>
            <a:ext cx="3565803" cy="298013"/>
          </a:xfrm>
          <a:prstGeom prst="rect">
            <a:avLst/>
          </a:prstGeom>
          <a:noFill/>
          <a:ln/>
        </p:spPr>
        <p:txBody>
          <a:bodyPr wrap="none" lIns="0" tIns="0" rIns="0" bIns="0" rtlCol="0" anchor="t"/>
          <a:lstStyle/>
          <a:p>
            <a:pPr marL="0" indent="0" algn="l">
              <a:lnSpc>
                <a:spcPts val="2300"/>
              </a:lnSpc>
              <a:buNone/>
            </a:pPr>
            <a:r>
              <a:rPr lang="en-US" sz="1550" dirty="0">
                <a:solidFill>
                  <a:srgbClr val="384653"/>
                </a:solidFill>
                <a:latin typeface="Roboto" pitchFamily="34" charset="0"/>
                <a:ea typeface="Roboto" pitchFamily="34" charset="-122"/>
                <a:cs typeface="Roboto" pitchFamily="34" charset="-120"/>
              </a:rPr>
              <a:t>Pyrometallurgy</a:t>
            </a:r>
            <a:endParaRPr lang="en-US" sz="1550" dirty="0"/>
          </a:p>
        </p:txBody>
      </p:sp>
      <p:sp>
        <p:nvSpPr>
          <p:cNvPr id="10" name="Text 8"/>
          <p:cNvSpPr/>
          <p:nvPr/>
        </p:nvSpPr>
        <p:spPr>
          <a:xfrm>
            <a:off x="4872990" y="2386965"/>
            <a:ext cx="4223266" cy="298013"/>
          </a:xfrm>
          <a:prstGeom prst="rect">
            <a:avLst/>
          </a:prstGeom>
          <a:noFill/>
          <a:ln/>
        </p:spPr>
        <p:txBody>
          <a:bodyPr wrap="none" lIns="0" tIns="0" rIns="0" bIns="0" rtlCol="0" anchor="t"/>
          <a:lstStyle/>
          <a:p>
            <a:pPr marL="0" indent="0" algn="l">
              <a:lnSpc>
                <a:spcPts val="2300"/>
              </a:lnSpc>
              <a:buNone/>
            </a:pPr>
            <a:r>
              <a:rPr lang="en-US" sz="1550" dirty="0">
                <a:solidFill>
                  <a:srgbClr val="384653"/>
                </a:solidFill>
                <a:latin typeface="Roboto" pitchFamily="34" charset="0"/>
                <a:ea typeface="Roboto" pitchFamily="34" charset="-122"/>
                <a:cs typeface="Roboto" pitchFamily="34" charset="-120"/>
              </a:rPr>
              <a:t>High recovery rates for certain metals</a:t>
            </a:r>
            <a:endParaRPr lang="en-US" sz="1550" dirty="0"/>
          </a:p>
        </p:txBody>
      </p:sp>
      <p:sp>
        <p:nvSpPr>
          <p:cNvPr id="11" name="Text 9"/>
          <p:cNvSpPr/>
          <p:nvPr/>
        </p:nvSpPr>
        <p:spPr>
          <a:xfrm>
            <a:off x="9501307" y="2386965"/>
            <a:ext cx="4227076" cy="298013"/>
          </a:xfrm>
          <a:prstGeom prst="rect">
            <a:avLst/>
          </a:prstGeom>
          <a:noFill/>
          <a:ln/>
        </p:spPr>
        <p:txBody>
          <a:bodyPr wrap="none" lIns="0" tIns="0" rIns="0" bIns="0" rtlCol="0" anchor="t"/>
          <a:lstStyle/>
          <a:p>
            <a:pPr marL="0" indent="0" algn="l">
              <a:lnSpc>
                <a:spcPts val="2300"/>
              </a:lnSpc>
              <a:buNone/>
            </a:pPr>
            <a:r>
              <a:rPr lang="en-US" sz="1550" dirty="0">
                <a:solidFill>
                  <a:srgbClr val="384653"/>
                </a:solidFill>
                <a:latin typeface="Roboto" pitchFamily="34" charset="0"/>
                <a:ea typeface="Roboto" pitchFamily="34" charset="-122"/>
                <a:cs typeface="Roboto" pitchFamily="34" charset="-120"/>
              </a:rPr>
              <a:t>High energy consumption, toxic emissions</a:t>
            </a:r>
            <a:endParaRPr lang="en-US" sz="1550" dirty="0"/>
          </a:p>
        </p:txBody>
      </p:sp>
      <p:sp>
        <p:nvSpPr>
          <p:cNvPr id="12" name="Shape 10"/>
          <p:cNvSpPr/>
          <p:nvPr/>
        </p:nvSpPr>
        <p:spPr>
          <a:xfrm>
            <a:off x="703302" y="2811780"/>
            <a:ext cx="13223796" cy="849630"/>
          </a:xfrm>
          <a:prstGeom prst="rect">
            <a:avLst/>
          </a:prstGeom>
          <a:solidFill>
            <a:srgbClr val="FFFFFF">
              <a:alpha val="4000"/>
            </a:srgbClr>
          </a:solidFill>
          <a:ln/>
        </p:spPr>
        <p:txBody>
          <a:bodyPr/>
          <a:lstStyle/>
          <a:p>
            <a:endParaRPr lang="en-IN"/>
          </a:p>
        </p:txBody>
      </p:sp>
      <p:sp>
        <p:nvSpPr>
          <p:cNvPr id="13" name="Text 11"/>
          <p:cNvSpPr/>
          <p:nvPr/>
        </p:nvSpPr>
        <p:spPr>
          <a:xfrm>
            <a:off x="902137" y="2938582"/>
            <a:ext cx="3565803" cy="298013"/>
          </a:xfrm>
          <a:prstGeom prst="rect">
            <a:avLst/>
          </a:prstGeom>
          <a:noFill/>
          <a:ln/>
        </p:spPr>
        <p:txBody>
          <a:bodyPr wrap="none" lIns="0" tIns="0" rIns="0" bIns="0" rtlCol="0" anchor="t"/>
          <a:lstStyle/>
          <a:p>
            <a:pPr marL="0" indent="0" algn="l">
              <a:lnSpc>
                <a:spcPts val="2300"/>
              </a:lnSpc>
              <a:buNone/>
            </a:pPr>
            <a:r>
              <a:rPr lang="en-US" sz="1550" dirty="0">
                <a:solidFill>
                  <a:srgbClr val="384653"/>
                </a:solidFill>
                <a:latin typeface="Roboto" pitchFamily="34" charset="0"/>
                <a:ea typeface="Roboto" pitchFamily="34" charset="-122"/>
                <a:cs typeface="Roboto" pitchFamily="34" charset="-120"/>
              </a:rPr>
              <a:t>Hydrometallurgy</a:t>
            </a:r>
            <a:endParaRPr lang="en-US" sz="1550" dirty="0"/>
          </a:p>
        </p:txBody>
      </p:sp>
      <p:sp>
        <p:nvSpPr>
          <p:cNvPr id="14" name="Text 12"/>
          <p:cNvSpPr/>
          <p:nvPr/>
        </p:nvSpPr>
        <p:spPr>
          <a:xfrm>
            <a:off x="4872990" y="2938582"/>
            <a:ext cx="4223266" cy="298013"/>
          </a:xfrm>
          <a:prstGeom prst="rect">
            <a:avLst/>
          </a:prstGeom>
          <a:noFill/>
          <a:ln/>
        </p:spPr>
        <p:txBody>
          <a:bodyPr wrap="none" lIns="0" tIns="0" rIns="0" bIns="0" rtlCol="0" anchor="t"/>
          <a:lstStyle/>
          <a:p>
            <a:pPr marL="0" indent="0" algn="l">
              <a:lnSpc>
                <a:spcPts val="2300"/>
              </a:lnSpc>
              <a:buNone/>
            </a:pPr>
            <a:r>
              <a:rPr lang="en-US" sz="1550" dirty="0">
                <a:solidFill>
                  <a:srgbClr val="384653"/>
                </a:solidFill>
                <a:latin typeface="Roboto" pitchFamily="34" charset="0"/>
                <a:ea typeface="Roboto" pitchFamily="34" charset="-122"/>
                <a:cs typeface="Roboto" pitchFamily="34" charset="-120"/>
              </a:rPr>
              <a:t>Selective metal recovery</a:t>
            </a:r>
            <a:endParaRPr lang="en-US" sz="1550" dirty="0"/>
          </a:p>
        </p:txBody>
      </p:sp>
      <p:sp>
        <p:nvSpPr>
          <p:cNvPr id="15" name="Text 13"/>
          <p:cNvSpPr/>
          <p:nvPr/>
        </p:nvSpPr>
        <p:spPr>
          <a:xfrm>
            <a:off x="9501307" y="2938582"/>
            <a:ext cx="4227076" cy="596027"/>
          </a:xfrm>
          <a:prstGeom prst="rect">
            <a:avLst/>
          </a:prstGeom>
          <a:noFill/>
          <a:ln/>
        </p:spPr>
        <p:txBody>
          <a:bodyPr wrap="square" lIns="0" tIns="0" rIns="0" bIns="0" rtlCol="0" anchor="t"/>
          <a:lstStyle/>
          <a:p>
            <a:pPr marL="0" indent="0" algn="l">
              <a:lnSpc>
                <a:spcPts val="2300"/>
              </a:lnSpc>
              <a:buNone/>
            </a:pPr>
            <a:r>
              <a:rPr lang="en-US" sz="1550" dirty="0">
                <a:solidFill>
                  <a:srgbClr val="384653"/>
                </a:solidFill>
                <a:latin typeface="Roboto" pitchFamily="34" charset="0"/>
                <a:ea typeface="Roboto" pitchFamily="34" charset="-122"/>
                <a:cs typeface="Roboto" pitchFamily="34" charset="-120"/>
              </a:rPr>
              <a:t>Uses hazardous chemicals, generates toxic waste</a:t>
            </a:r>
            <a:endParaRPr lang="en-US" sz="1550" dirty="0"/>
          </a:p>
        </p:txBody>
      </p:sp>
      <p:sp>
        <p:nvSpPr>
          <p:cNvPr id="16" name="Shape 14"/>
          <p:cNvSpPr/>
          <p:nvPr/>
        </p:nvSpPr>
        <p:spPr>
          <a:xfrm>
            <a:off x="703302" y="3661410"/>
            <a:ext cx="13223796" cy="551617"/>
          </a:xfrm>
          <a:prstGeom prst="rect">
            <a:avLst/>
          </a:prstGeom>
          <a:solidFill>
            <a:srgbClr val="000000">
              <a:alpha val="4000"/>
            </a:srgbClr>
          </a:solidFill>
          <a:ln/>
        </p:spPr>
        <p:txBody>
          <a:bodyPr/>
          <a:lstStyle/>
          <a:p>
            <a:endParaRPr lang="en-IN"/>
          </a:p>
        </p:txBody>
      </p:sp>
      <p:sp>
        <p:nvSpPr>
          <p:cNvPr id="17" name="Text 15"/>
          <p:cNvSpPr/>
          <p:nvPr/>
        </p:nvSpPr>
        <p:spPr>
          <a:xfrm>
            <a:off x="902137" y="3788212"/>
            <a:ext cx="3565803" cy="298013"/>
          </a:xfrm>
          <a:prstGeom prst="rect">
            <a:avLst/>
          </a:prstGeom>
          <a:noFill/>
          <a:ln/>
        </p:spPr>
        <p:txBody>
          <a:bodyPr wrap="none" lIns="0" tIns="0" rIns="0" bIns="0" rtlCol="0" anchor="t"/>
          <a:lstStyle/>
          <a:p>
            <a:pPr marL="0" indent="0" algn="l">
              <a:lnSpc>
                <a:spcPts val="2300"/>
              </a:lnSpc>
              <a:buNone/>
            </a:pPr>
            <a:r>
              <a:rPr lang="en-US" sz="1550" dirty="0">
                <a:solidFill>
                  <a:srgbClr val="384653"/>
                </a:solidFill>
                <a:latin typeface="Roboto" pitchFamily="34" charset="0"/>
                <a:ea typeface="Roboto" pitchFamily="34" charset="-122"/>
                <a:cs typeface="Roboto" pitchFamily="34" charset="-120"/>
              </a:rPr>
              <a:t>Mechanical Separation</a:t>
            </a:r>
            <a:endParaRPr lang="en-US" sz="1550" dirty="0"/>
          </a:p>
        </p:txBody>
      </p:sp>
      <p:sp>
        <p:nvSpPr>
          <p:cNvPr id="18" name="Text 16"/>
          <p:cNvSpPr/>
          <p:nvPr/>
        </p:nvSpPr>
        <p:spPr>
          <a:xfrm>
            <a:off x="4872990" y="3788212"/>
            <a:ext cx="4223266" cy="298013"/>
          </a:xfrm>
          <a:prstGeom prst="rect">
            <a:avLst/>
          </a:prstGeom>
          <a:noFill/>
          <a:ln/>
        </p:spPr>
        <p:txBody>
          <a:bodyPr wrap="none" lIns="0" tIns="0" rIns="0" bIns="0" rtlCol="0" anchor="t"/>
          <a:lstStyle/>
          <a:p>
            <a:pPr marL="0" indent="0" algn="l">
              <a:lnSpc>
                <a:spcPts val="2300"/>
              </a:lnSpc>
              <a:buNone/>
            </a:pPr>
            <a:r>
              <a:rPr lang="en-US" sz="1550" dirty="0">
                <a:solidFill>
                  <a:srgbClr val="384653"/>
                </a:solidFill>
                <a:latin typeface="Roboto" pitchFamily="34" charset="0"/>
                <a:ea typeface="Roboto" pitchFamily="34" charset="-122"/>
                <a:cs typeface="Roboto" pitchFamily="34" charset="-120"/>
              </a:rPr>
              <a:t>Simple process, low cost</a:t>
            </a:r>
            <a:endParaRPr lang="en-US" sz="1550" dirty="0"/>
          </a:p>
        </p:txBody>
      </p:sp>
      <p:sp>
        <p:nvSpPr>
          <p:cNvPr id="19" name="Text 17"/>
          <p:cNvSpPr/>
          <p:nvPr/>
        </p:nvSpPr>
        <p:spPr>
          <a:xfrm>
            <a:off x="9501307" y="3788212"/>
            <a:ext cx="4227076" cy="298013"/>
          </a:xfrm>
          <a:prstGeom prst="rect">
            <a:avLst/>
          </a:prstGeom>
          <a:noFill/>
          <a:ln/>
        </p:spPr>
        <p:txBody>
          <a:bodyPr wrap="none" lIns="0" tIns="0" rIns="0" bIns="0" rtlCol="0" anchor="t"/>
          <a:lstStyle/>
          <a:p>
            <a:pPr marL="0" indent="0" algn="l">
              <a:lnSpc>
                <a:spcPts val="2300"/>
              </a:lnSpc>
              <a:buNone/>
            </a:pPr>
            <a:r>
              <a:rPr lang="en-US" sz="1550" dirty="0">
                <a:solidFill>
                  <a:srgbClr val="384653"/>
                </a:solidFill>
                <a:latin typeface="Roboto" pitchFamily="34" charset="0"/>
                <a:ea typeface="Roboto" pitchFamily="34" charset="-122"/>
                <a:cs typeface="Roboto" pitchFamily="34" charset="-120"/>
              </a:rPr>
              <a:t>Low efficiency for complex materials</a:t>
            </a:r>
            <a:endParaRPr lang="en-US" sz="1550" dirty="0"/>
          </a:p>
        </p:txBody>
      </p:sp>
      <p:sp>
        <p:nvSpPr>
          <p:cNvPr id="20" name="Text 18"/>
          <p:cNvSpPr/>
          <p:nvPr/>
        </p:nvSpPr>
        <p:spPr>
          <a:xfrm>
            <a:off x="695682" y="4518779"/>
            <a:ext cx="3975378" cy="496848"/>
          </a:xfrm>
          <a:prstGeom prst="rect">
            <a:avLst/>
          </a:prstGeom>
          <a:noFill/>
          <a:ln/>
        </p:spPr>
        <p:txBody>
          <a:bodyPr wrap="none" lIns="0" tIns="0" rIns="0" bIns="0" rtlCol="0" anchor="t"/>
          <a:lstStyle/>
          <a:p>
            <a:pPr marL="0" indent="0" algn="l">
              <a:lnSpc>
                <a:spcPts val="3900"/>
              </a:lnSpc>
              <a:buNone/>
            </a:pPr>
            <a:r>
              <a:rPr lang="en-US" sz="3100" dirty="0">
                <a:solidFill>
                  <a:srgbClr val="2E3C4E"/>
                </a:solidFill>
                <a:latin typeface="Host Grotesk Medium" pitchFamily="34" charset="0"/>
                <a:ea typeface="Host Grotesk Medium" pitchFamily="34" charset="-122"/>
                <a:cs typeface="Host Grotesk Medium" pitchFamily="34" charset="-120"/>
              </a:rPr>
              <a:t>Our Unique Solution</a:t>
            </a:r>
            <a:endParaRPr lang="en-US" sz="3100" dirty="0"/>
          </a:p>
        </p:txBody>
      </p:sp>
      <p:sp>
        <p:nvSpPr>
          <p:cNvPr id="21" name="Shape 19"/>
          <p:cNvSpPr/>
          <p:nvPr/>
        </p:nvSpPr>
        <p:spPr>
          <a:xfrm>
            <a:off x="695682" y="5313759"/>
            <a:ext cx="4280535" cy="2233374"/>
          </a:xfrm>
          <a:prstGeom prst="roundRect">
            <a:avLst>
              <a:gd name="adj" fmla="val 3738"/>
            </a:avLst>
          </a:prstGeom>
          <a:solidFill>
            <a:srgbClr val="D9EDF2"/>
          </a:solidFill>
          <a:ln w="7620">
            <a:solidFill>
              <a:srgbClr val="95CCDA"/>
            </a:solidFill>
            <a:prstDash val="solid"/>
          </a:ln>
        </p:spPr>
        <p:txBody>
          <a:bodyPr/>
          <a:lstStyle/>
          <a:p>
            <a:endParaRPr lang="en-IN"/>
          </a:p>
        </p:txBody>
      </p:sp>
      <p:sp>
        <p:nvSpPr>
          <p:cNvPr id="22" name="Shape 20"/>
          <p:cNvSpPr/>
          <p:nvPr/>
        </p:nvSpPr>
        <p:spPr>
          <a:xfrm>
            <a:off x="902018" y="5520095"/>
            <a:ext cx="596265" cy="596265"/>
          </a:xfrm>
          <a:prstGeom prst="roundRect">
            <a:avLst>
              <a:gd name="adj" fmla="val 15333930"/>
            </a:avLst>
          </a:prstGeom>
          <a:solidFill>
            <a:srgbClr val="95CCDA"/>
          </a:solidFill>
          <a:ln/>
        </p:spPr>
        <p:txBody>
          <a:bodyPr/>
          <a:lstStyle/>
          <a:p>
            <a:endParaRPr lang="en-IN"/>
          </a:p>
        </p:txBody>
      </p:sp>
      <p:pic>
        <p:nvPicPr>
          <p:cNvPr id="23" name="Image 0" descr="preencoded.png"/>
          <p:cNvPicPr>
            <a:picLocks noChangeAspect="1"/>
          </p:cNvPicPr>
          <p:nvPr/>
        </p:nvPicPr>
        <p:blipFill>
          <a:blip r:embed="rId3"/>
          <a:stretch>
            <a:fillRect/>
          </a:stretch>
        </p:blipFill>
        <p:spPr>
          <a:xfrm>
            <a:off x="1065967" y="5650468"/>
            <a:ext cx="268248" cy="335399"/>
          </a:xfrm>
          <a:prstGeom prst="rect">
            <a:avLst/>
          </a:prstGeom>
        </p:spPr>
      </p:pic>
      <p:sp>
        <p:nvSpPr>
          <p:cNvPr id="24" name="Text 21"/>
          <p:cNvSpPr/>
          <p:nvPr/>
        </p:nvSpPr>
        <p:spPr>
          <a:xfrm>
            <a:off x="902018" y="6315075"/>
            <a:ext cx="3720346" cy="310515"/>
          </a:xfrm>
          <a:prstGeom prst="rect">
            <a:avLst/>
          </a:prstGeom>
          <a:noFill/>
          <a:ln/>
        </p:spPr>
        <p:txBody>
          <a:bodyPr wrap="none" lIns="0" tIns="0" rIns="0" bIns="0" rtlCol="0" anchor="t"/>
          <a:lstStyle/>
          <a:p>
            <a:pPr marL="0" indent="0" algn="l">
              <a:lnSpc>
                <a:spcPts val="2400"/>
              </a:lnSpc>
              <a:buNone/>
            </a:pPr>
            <a:r>
              <a:rPr lang="en-US" sz="1950" dirty="0">
                <a:solidFill>
                  <a:srgbClr val="384653"/>
                </a:solidFill>
                <a:latin typeface="Host Grotesk Medium" pitchFamily="34" charset="0"/>
                <a:ea typeface="Host Grotesk Medium" pitchFamily="34" charset="-122"/>
                <a:cs typeface="Host Grotesk Medium" pitchFamily="34" charset="-120"/>
              </a:rPr>
              <a:t>Microorganism-Based Extraction</a:t>
            </a:r>
            <a:endParaRPr lang="en-US" sz="1950" dirty="0"/>
          </a:p>
        </p:txBody>
      </p:sp>
      <p:sp>
        <p:nvSpPr>
          <p:cNvPr id="25" name="Text 22"/>
          <p:cNvSpPr/>
          <p:nvPr/>
        </p:nvSpPr>
        <p:spPr>
          <a:xfrm>
            <a:off x="902018" y="6744772"/>
            <a:ext cx="3867864" cy="596027"/>
          </a:xfrm>
          <a:prstGeom prst="rect">
            <a:avLst/>
          </a:prstGeom>
          <a:noFill/>
          <a:ln/>
        </p:spPr>
        <p:txBody>
          <a:bodyPr wrap="square" lIns="0" tIns="0" rIns="0" bIns="0" rtlCol="0" anchor="t"/>
          <a:lstStyle/>
          <a:p>
            <a:pPr marL="0" indent="0" algn="l">
              <a:lnSpc>
                <a:spcPts val="2300"/>
              </a:lnSpc>
              <a:buNone/>
            </a:pPr>
            <a:r>
              <a:rPr lang="en-US" sz="1550" dirty="0">
                <a:solidFill>
                  <a:srgbClr val="384653"/>
                </a:solidFill>
                <a:latin typeface="Roboto" pitchFamily="34" charset="0"/>
                <a:ea typeface="Roboto" pitchFamily="34" charset="-122"/>
                <a:cs typeface="Roboto" pitchFamily="34" charset="-120"/>
              </a:rPr>
              <a:t>Using Chromobacterium violaceum to extract precious metals from e-waste</a:t>
            </a:r>
            <a:endParaRPr lang="en-US" sz="1550" dirty="0"/>
          </a:p>
        </p:txBody>
      </p:sp>
      <p:sp>
        <p:nvSpPr>
          <p:cNvPr id="26" name="Shape 23"/>
          <p:cNvSpPr/>
          <p:nvPr/>
        </p:nvSpPr>
        <p:spPr>
          <a:xfrm>
            <a:off x="5174933" y="5313759"/>
            <a:ext cx="4280535" cy="2233374"/>
          </a:xfrm>
          <a:prstGeom prst="roundRect">
            <a:avLst>
              <a:gd name="adj" fmla="val 3738"/>
            </a:avLst>
          </a:prstGeom>
          <a:solidFill>
            <a:srgbClr val="D9EDF2"/>
          </a:solidFill>
          <a:ln w="7620">
            <a:solidFill>
              <a:srgbClr val="95CCDA"/>
            </a:solidFill>
            <a:prstDash val="solid"/>
          </a:ln>
        </p:spPr>
        <p:txBody>
          <a:bodyPr/>
          <a:lstStyle/>
          <a:p>
            <a:endParaRPr lang="en-IN"/>
          </a:p>
        </p:txBody>
      </p:sp>
      <p:sp>
        <p:nvSpPr>
          <p:cNvPr id="27" name="Shape 24"/>
          <p:cNvSpPr/>
          <p:nvPr/>
        </p:nvSpPr>
        <p:spPr>
          <a:xfrm>
            <a:off x="5381268" y="5520095"/>
            <a:ext cx="596265" cy="596265"/>
          </a:xfrm>
          <a:prstGeom prst="roundRect">
            <a:avLst>
              <a:gd name="adj" fmla="val 15333930"/>
            </a:avLst>
          </a:prstGeom>
          <a:solidFill>
            <a:srgbClr val="95CCDA"/>
          </a:solidFill>
          <a:ln/>
        </p:spPr>
        <p:txBody>
          <a:bodyPr/>
          <a:lstStyle/>
          <a:p>
            <a:endParaRPr lang="en-IN"/>
          </a:p>
        </p:txBody>
      </p:sp>
      <p:pic>
        <p:nvPicPr>
          <p:cNvPr id="28" name="Image 1" descr="preencoded.png"/>
          <p:cNvPicPr>
            <a:picLocks noChangeAspect="1"/>
          </p:cNvPicPr>
          <p:nvPr/>
        </p:nvPicPr>
        <p:blipFill>
          <a:blip r:embed="rId4"/>
          <a:stretch>
            <a:fillRect/>
          </a:stretch>
        </p:blipFill>
        <p:spPr>
          <a:xfrm>
            <a:off x="5545217" y="5650468"/>
            <a:ext cx="268248" cy="335399"/>
          </a:xfrm>
          <a:prstGeom prst="rect">
            <a:avLst/>
          </a:prstGeom>
        </p:spPr>
      </p:pic>
      <p:sp>
        <p:nvSpPr>
          <p:cNvPr id="29" name="Text 25"/>
          <p:cNvSpPr/>
          <p:nvPr/>
        </p:nvSpPr>
        <p:spPr>
          <a:xfrm>
            <a:off x="5381268" y="6315075"/>
            <a:ext cx="2603659" cy="310515"/>
          </a:xfrm>
          <a:prstGeom prst="rect">
            <a:avLst/>
          </a:prstGeom>
          <a:noFill/>
          <a:ln/>
        </p:spPr>
        <p:txBody>
          <a:bodyPr wrap="none" lIns="0" tIns="0" rIns="0" bIns="0" rtlCol="0" anchor="t"/>
          <a:lstStyle/>
          <a:p>
            <a:pPr marL="0" indent="0" algn="l">
              <a:lnSpc>
                <a:spcPts val="2400"/>
              </a:lnSpc>
              <a:buNone/>
            </a:pPr>
            <a:r>
              <a:rPr lang="en-US" sz="1950" dirty="0">
                <a:solidFill>
                  <a:srgbClr val="384653"/>
                </a:solidFill>
                <a:latin typeface="Host Grotesk Medium" pitchFamily="34" charset="0"/>
                <a:ea typeface="Host Grotesk Medium" pitchFamily="34" charset="-122"/>
                <a:cs typeface="Host Grotesk Medium" pitchFamily="34" charset="-120"/>
              </a:rPr>
              <a:t>Eco-Friendly Approach</a:t>
            </a:r>
            <a:endParaRPr lang="en-US" sz="1950" dirty="0"/>
          </a:p>
        </p:txBody>
      </p:sp>
      <p:sp>
        <p:nvSpPr>
          <p:cNvPr id="30" name="Text 26"/>
          <p:cNvSpPr/>
          <p:nvPr/>
        </p:nvSpPr>
        <p:spPr>
          <a:xfrm>
            <a:off x="5381268" y="6744772"/>
            <a:ext cx="3867864" cy="596027"/>
          </a:xfrm>
          <a:prstGeom prst="rect">
            <a:avLst/>
          </a:prstGeom>
          <a:noFill/>
          <a:ln/>
        </p:spPr>
        <p:txBody>
          <a:bodyPr wrap="square" lIns="0" tIns="0" rIns="0" bIns="0" rtlCol="0" anchor="t"/>
          <a:lstStyle/>
          <a:p>
            <a:pPr marL="0" indent="0" algn="l">
              <a:lnSpc>
                <a:spcPts val="2300"/>
              </a:lnSpc>
              <a:buNone/>
            </a:pPr>
            <a:r>
              <a:rPr lang="en-US" sz="1550" dirty="0">
                <a:solidFill>
                  <a:srgbClr val="384653"/>
                </a:solidFill>
                <a:latin typeface="Roboto" pitchFamily="34" charset="0"/>
                <a:ea typeface="Roboto" pitchFamily="34" charset="-122"/>
                <a:cs typeface="Roboto" pitchFamily="34" charset="-120"/>
              </a:rPr>
              <a:t>Zero toxic emissions, minimal environmental impact</a:t>
            </a:r>
            <a:endParaRPr lang="en-US" sz="1550" dirty="0"/>
          </a:p>
        </p:txBody>
      </p:sp>
      <p:sp>
        <p:nvSpPr>
          <p:cNvPr id="31" name="Shape 27"/>
          <p:cNvSpPr/>
          <p:nvPr/>
        </p:nvSpPr>
        <p:spPr>
          <a:xfrm>
            <a:off x="9654183" y="5313759"/>
            <a:ext cx="4280535" cy="2233374"/>
          </a:xfrm>
          <a:prstGeom prst="roundRect">
            <a:avLst>
              <a:gd name="adj" fmla="val 3738"/>
            </a:avLst>
          </a:prstGeom>
          <a:solidFill>
            <a:srgbClr val="D9EDF2"/>
          </a:solidFill>
          <a:ln w="7620">
            <a:solidFill>
              <a:srgbClr val="95CCDA"/>
            </a:solidFill>
            <a:prstDash val="solid"/>
          </a:ln>
        </p:spPr>
        <p:txBody>
          <a:bodyPr/>
          <a:lstStyle/>
          <a:p>
            <a:endParaRPr lang="en-IN"/>
          </a:p>
        </p:txBody>
      </p:sp>
      <p:sp>
        <p:nvSpPr>
          <p:cNvPr id="32" name="Shape 28"/>
          <p:cNvSpPr/>
          <p:nvPr/>
        </p:nvSpPr>
        <p:spPr>
          <a:xfrm>
            <a:off x="9860518" y="5520095"/>
            <a:ext cx="596265" cy="596265"/>
          </a:xfrm>
          <a:prstGeom prst="roundRect">
            <a:avLst>
              <a:gd name="adj" fmla="val 15333930"/>
            </a:avLst>
          </a:prstGeom>
          <a:solidFill>
            <a:srgbClr val="95CCDA"/>
          </a:solidFill>
          <a:ln/>
        </p:spPr>
        <p:txBody>
          <a:bodyPr/>
          <a:lstStyle/>
          <a:p>
            <a:endParaRPr lang="en-IN"/>
          </a:p>
        </p:txBody>
      </p:sp>
      <p:pic>
        <p:nvPicPr>
          <p:cNvPr id="33" name="Image 2" descr="preencoded.png"/>
          <p:cNvPicPr>
            <a:picLocks noChangeAspect="1"/>
          </p:cNvPicPr>
          <p:nvPr/>
        </p:nvPicPr>
        <p:blipFill>
          <a:blip r:embed="rId5"/>
          <a:stretch>
            <a:fillRect/>
          </a:stretch>
        </p:blipFill>
        <p:spPr>
          <a:xfrm>
            <a:off x="10024467" y="5650468"/>
            <a:ext cx="268248" cy="335399"/>
          </a:xfrm>
          <a:prstGeom prst="rect">
            <a:avLst/>
          </a:prstGeom>
        </p:spPr>
      </p:pic>
      <p:sp>
        <p:nvSpPr>
          <p:cNvPr id="34" name="Text 29"/>
          <p:cNvSpPr/>
          <p:nvPr/>
        </p:nvSpPr>
        <p:spPr>
          <a:xfrm>
            <a:off x="9860518" y="6315075"/>
            <a:ext cx="2484596" cy="310515"/>
          </a:xfrm>
          <a:prstGeom prst="rect">
            <a:avLst/>
          </a:prstGeom>
          <a:noFill/>
          <a:ln/>
        </p:spPr>
        <p:txBody>
          <a:bodyPr wrap="none" lIns="0" tIns="0" rIns="0" bIns="0" rtlCol="0" anchor="t"/>
          <a:lstStyle/>
          <a:p>
            <a:pPr marL="0" indent="0" algn="l">
              <a:lnSpc>
                <a:spcPts val="2400"/>
              </a:lnSpc>
              <a:buNone/>
            </a:pPr>
            <a:r>
              <a:rPr lang="en-US" sz="1950" dirty="0">
                <a:solidFill>
                  <a:srgbClr val="384653"/>
                </a:solidFill>
                <a:latin typeface="Host Grotesk Medium" pitchFamily="34" charset="0"/>
                <a:ea typeface="Host Grotesk Medium" pitchFamily="34" charset="-122"/>
                <a:cs typeface="Host Grotesk Medium" pitchFamily="34" charset="-120"/>
              </a:rPr>
              <a:t>Cost-Effective</a:t>
            </a:r>
            <a:endParaRPr lang="en-US" sz="1950" dirty="0"/>
          </a:p>
        </p:txBody>
      </p:sp>
      <p:sp>
        <p:nvSpPr>
          <p:cNvPr id="35" name="Text 30"/>
          <p:cNvSpPr/>
          <p:nvPr/>
        </p:nvSpPr>
        <p:spPr>
          <a:xfrm>
            <a:off x="9860518" y="6744772"/>
            <a:ext cx="3867864" cy="596027"/>
          </a:xfrm>
          <a:prstGeom prst="rect">
            <a:avLst/>
          </a:prstGeom>
          <a:noFill/>
          <a:ln/>
        </p:spPr>
        <p:txBody>
          <a:bodyPr wrap="square" lIns="0" tIns="0" rIns="0" bIns="0" rtlCol="0" anchor="t"/>
          <a:lstStyle/>
          <a:p>
            <a:pPr marL="0" indent="0" algn="l">
              <a:lnSpc>
                <a:spcPts val="2300"/>
              </a:lnSpc>
              <a:buNone/>
            </a:pPr>
            <a:r>
              <a:rPr lang="en-US" sz="1550" dirty="0">
                <a:solidFill>
                  <a:srgbClr val="384653"/>
                </a:solidFill>
                <a:latin typeface="Roboto" pitchFamily="34" charset="0"/>
                <a:ea typeface="Roboto" pitchFamily="34" charset="-122"/>
                <a:cs typeface="Roboto" pitchFamily="34" charset="-120"/>
              </a:rPr>
              <a:t>Lower energy requirements and operational costs than traditional methods</a:t>
            </a:r>
            <a:endParaRPr lang="en-US" sz="1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0"/>
          <p:cNvSpPr/>
          <p:nvPr/>
        </p:nvSpPr>
        <p:spPr>
          <a:xfrm>
            <a:off x="673775" y="529471"/>
            <a:ext cx="4812863" cy="601504"/>
          </a:xfrm>
          <a:prstGeom prst="rect">
            <a:avLst/>
          </a:prstGeom>
          <a:noFill/>
          <a:ln/>
        </p:spPr>
        <p:txBody>
          <a:bodyPr wrap="none" lIns="0" tIns="0" rIns="0" bIns="0" rtlCol="0" anchor="t"/>
          <a:lstStyle/>
          <a:p>
            <a:pPr marL="0" indent="0" algn="l">
              <a:lnSpc>
                <a:spcPts val="4700"/>
              </a:lnSpc>
              <a:buNone/>
            </a:pPr>
            <a:r>
              <a:rPr lang="en-US" sz="3750" dirty="0">
                <a:solidFill>
                  <a:srgbClr val="2E3C4E"/>
                </a:solidFill>
                <a:latin typeface="Host Grotesk Medium" pitchFamily="34" charset="0"/>
                <a:ea typeface="Host Grotesk Medium" pitchFamily="34" charset="-122"/>
                <a:cs typeface="Host Grotesk Medium" pitchFamily="34" charset="-120"/>
              </a:rPr>
              <a:t>Technical Approach</a:t>
            </a:r>
            <a:endParaRPr lang="en-US" sz="3750" dirty="0"/>
          </a:p>
        </p:txBody>
      </p:sp>
      <p:sp>
        <p:nvSpPr>
          <p:cNvPr id="4" name="Text 1"/>
          <p:cNvSpPr/>
          <p:nvPr/>
        </p:nvSpPr>
        <p:spPr>
          <a:xfrm>
            <a:off x="673775" y="1419701"/>
            <a:ext cx="7796451" cy="288727"/>
          </a:xfrm>
          <a:prstGeom prst="rect">
            <a:avLst/>
          </a:prstGeom>
          <a:noFill/>
          <a:ln/>
        </p:spPr>
        <p:txBody>
          <a:bodyPr wrap="none" lIns="0" tIns="0" rIns="0" bIns="0" rtlCol="0" anchor="t"/>
          <a:lstStyle/>
          <a:p>
            <a:pPr marL="0" indent="0" algn="l">
              <a:lnSpc>
                <a:spcPts val="2250"/>
              </a:lnSpc>
              <a:buNone/>
            </a:pPr>
            <a:r>
              <a:rPr lang="en-US" sz="1550" dirty="0">
                <a:solidFill>
                  <a:srgbClr val="384653"/>
                </a:solidFill>
                <a:latin typeface="Roboto" pitchFamily="34" charset="0"/>
                <a:ea typeface="Roboto" pitchFamily="34" charset="-122"/>
                <a:cs typeface="Roboto" pitchFamily="34" charset="-120"/>
              </a:rPr>
              <a:t>Step-by-step process using Chromobacterium violaceum</a:t>
            </a:r>
            <a:endParaRPr lang="en-US" sz="1550" dirty="0"/>
          </a:p>
        </p:txBody>
      </p:sp>
      <p:pic>
        <p:nvPicPr>
          <p:cNvPr id="5" name="Image 1" descr="preencoded.png"/>
          <p:cNvPicPr>
            <a:picLocks noChangeAspect="1"/>
          </p:cNvPicPr>
          <p:nvPr/>
        </p:nvPicPr>
        <p:blipFill>
          <a:blip r:embed="rId3"/>
          <a:stretch>
            <a:fillRect/>
          </a:stretch>
        </p:blipFill>
        <p:spPr>
          <a:xfrm>
            <a:off x="673775" y="1925003"/>
            <a:ext cx="962501" cy="1155025"/>
          </a:xfrm>
          <a:prstGeom prst="rect">
            <a:avLst/>
          </a:prstGeom>
        </p:spPr>
      </p:pic>
      <p:sp>
        <p:nvSpPr>
          <p:cNvPr id="6" name="Text 2"/>
          <p:cNvSpPr/>
          <p:nvPr/>
        </p:nvSpPr>
        <p:spPr>
          <a:xfrm>
            <a:off x="1828681" y="2117408"/>
            <a:ext cx="2949654" cy="300752"/>
          </a:xfrm>
          <a:prstGeom prst="rect">
            <a:avLst/>
          </a:prstGeom>
          <a:noFill/>
          <a:ln/>
        </p:spPr>
        <p:txBody>
          <a:bodyPr wrap="none" lIns="0" tIns="0" rIns="0" bIns="0" rtlCol="0" anchor="t"/>
          <a:lstStyle/>
          <a:p>
            <a:pPr marL="0" indent="0" algn="l">
              <a:lnSpc>
                <a:spcPts val="2350"/>
              </a:lnSpc>
              <a:buNone/>
            </a:pPr>
            <a:r>
              <a:rPr lang="en-US" dirty="0">
                <a:solidFill>
                  <a:srgbClr val="384653"/>
                </a:solidFill>
                <a:latin typeface="Host Grotesk Medium" pitchFamily="34" charset="0"/>
                <a:ea typeface="Host Grotesk Medium" pitchFamily="34" charset="-122"/>
                <a:cs typeface="Host Grotesk Medium" pitchFamily="34" charset="-120"/>
              </a:rPr>
              <a:t>Collection &amp; Preprocessing</a:t>
            </a:r>
            <a:endParaRPr lang="en-US" dirty="0"/>
          </a:p>
        </p:txBody>
      </p:sp>
      <p:sp>
        <p:nvSpPr>
          <p:cNvPr id="7" name="Text 3"/>
          <p:cNvSpPr/>
          <p:nvPr/>
        </p:nvSpPr>
        <p:spPr>
          <a:xfrm>
            <a:off x="1828681" y="2533650"/>
            <a:ext cx="6641544" cy="288727"/>
          </a:xfrm>
          <a:prstGeom prst="rect">
            <a:avLst/>
          </a:prstGeom>
          <a:noFill/>
          <a:ln/>
        </p:spPr>
        <p:txBody>
          <a:bodyPr wrap="none" lIns="0" tIns="0" rIns="0" bIns="0" rtlCol="0" anchor="t"/>
          <a:lstStyle/>
          <a:p>
            <a:pPr marL="0" indent="0" algn="l">
              <a:lnSpc>
                <a:spcPts val="2250"/>
              </a:lnSpc>
              <a:buNone/>
            </a:pPr>
            <a:r>
              <a:rPr lang="en-US" sz="1550" dirty="0">
                <a:solidFill>
                  <a:srgbClr val="384653"/>
                </a:solidFill>
                <a:latin typeface="Roboto" pitchFamily="34" charset="0"/>
                <a:ea typeface="Roboto" pitchFamily="34" charset="-122"/>
                <a:cs typeface="Roboto" pitchFamily="34" charset="-120"/>
              </a:rPr>
              <a:t>E-waste is collected, sorted, and shredded into small particles</a:t>
            </a:r>
            <a:endParaRPr lang="en-US" sz="1550" dirty="0"/>
          </a:p>
        </p:txBody>
      </p:sp>
      <p:pic>
        <p:nvPicPr>
          <p:cNvPr id="8" name="Image 2" descr="preencoded.png"/>
          <p:cNvPicPr>
            <a:picLocks noChangeAspect="1"/>
          </p:cNvPicPr>
          <p:nvPr/>
        </p:nvPicPr>
        <p:blipFill>
          <a:blip r:embed="rId4"/>
          <a:stretch>
            <a:fillRect/>
          </a:stretch>
        </p:blipFill>
        <p:spPr>
          <a:xfrm>
            <a:off x="673775" y="3080028"/>
            <a:ext cx="962501" cy="1155025"/>
          </a:xfrm>
          <a:prstGeom prst="rect">
            <a:avLst/>
          </a:prstGeom>
        </p:spPr>
      </p:pic>
      <p:sp>
        <p:nvSpPr>
          <p:cNvPr id="9" name="Text 4"/>
          <p:cNvSpPr/>
          <p:nvPr/>
        </p:nvSpPr>
        <p:spPr>
          <a:xfrm>
            <a:off x="1828681" y="3272433"/>
            <a:ext cx="3131820" cy="300752"/>
          </a:xfrm>
          <a:prstGeom prst="rect">
            <a:avLst/>
          </a:prstGeom>
          <a:noFill/>
          <a:ln/>
        </p:spPr>
        <p:txBody>
          <a:bodyPr wrap="none" lIns="0" tIns="0" rIns="0" bIns="0" rtlCol="0" anchor="t"/>
          <a:lstStyle/>
          <a:p>
            <a:pPr marL="0" indent="0" algn="l">
              <a:lnSpc>
                <a:spcPts val="2350"/>
              </a:lnSpc>
              <a:buNone/>
            </a:pPr>
            <a:r>
              <a:rPr lang="en-US" dirty="0">
                <a:solidFill>
                  <a:srgbClr val="384653"/>
                </a:solidFill>
                <a:latin typeface="Host Grotesk Medium" pitchFamily="34" charset="0"/>
                <a:ea typeface="Host Grotesk Medium" pitchFamily="34" charset="-122"/>
                <a:cs typeface="Host Grotesk Medium" pitchFamily="34" charset="-120"/>
              </a:rPr>
              <a:t>Bacterial Culture Preparation</a:t>
            </a:r>
            <a:endParaRPr lang="en-US" dirty="0"/>
          </a:p>
        </p:txBody>
      </p:sp>
      <p:sp>
        <p:nvSpPr>
          <p:cNvPr id="10" name="Text 5"/>
          <p:cNvSpPr/>
          <p:nvPr/>
        </p:nvSpPr>
        <p:spPr>
          <a:xfrm>
            <a:off x="1828681" y="3688675"/>
            <a:ext cx="6641544" cy="288727"/>
          </a:xfrm>
          <a:prstGeom prst="rect">
            <a:avLst/>
          </a:prstGeom>
          <a:noFill/>
          <a:ln/>
        </p:spPr>
        <p:txBody>
          <a:bodyPr wrap="none" lIns="0" tIns="0" rIns="0" bIns="0" rtlCol="0" anchor="t"/>
          <a:lstStyle/>
          <a:p>
            <a:pPr marL="0" indent="0" algn="l">
              <a:lnSpc>
                <a:spcPts val="2250"/>
              </a:lnSpc>
              <a:buNone/>
            </a:pPr>
            <a:r>
              <a:rPr lang="en-US" sz="1550" dirty="0">
                <a:solidFill>
                  <a:srgbClr val="384653"/>
                </a:solidFill>
                <a:latin typeface="Roboto" pitchFamily="34" charset="0"/>
                <a:ea typeface="Roboto" pitchFamily="34" charset="-122"/>
                <a:cs typeface="Roboto" pitchFamily="34" charset="-120"/>
              </a:rPr>
              <a:t>Chromobacterium violaceum cultures are grown in optimal conditions</a:t>
            </a:r>
            <a:endParaRPr lang="en-US" sz="1550" dirty="0"/>
          </a:p>
        </p:txBody>
      </p:sp>
      <p:pic>
        <p:nvPicPr>
          <p:cNvPr id="11" name="Image 3" descr="preencoded.png"/>
          <p:cNvPicPr>
            <a:picLocks noChangeAspect="1"/>
          </p:cNvPicPr>
          <p:nvPr/>
        </p:nvPicPr>
        <p:blipFill>
          <a:blip r:embed="rId5"/>
          <a:stretch>
            <a:fillRect/>
          </a:stretch>
        </p:blipFill>
        <p:spPr>
          <a:xfrm>
            <a:off x="673775" y="4235053"/>
            <a:ext cx="962501" cy="1155025"/>
          </a:xfrm>
          <a:prstGeom prst="rect">
            <a:avLst/>
          </a:prstGeom>
        </p:spPr>
      </p:pic>
      <p:sp>
        <p:nvSpPr>
          <p:cNvPr id="12" name="Text 6"/>
          <p:cNvSpPr/>
          <p:nvPr/>
        </p:nvSpPr>
        <p:spPr>
          <a:xfrm>
            <a:off x="1828681" y="4427458"/>
            <a:ext cx="2406372" cy="300752"/>
          </a:xfrm>
          <a:prstGeom prst="rect">
            <a:avLst/>
          </a:prstGeom>
          <a:noFill/>
          <a:ln/>
        </p:spPr>
        <p:txBody>
          <a:bodyPr wrap="none" lIns="0" tIns="0" rIns="0" bIns="0" rtlCol="0" anchor="t"/>
          <a:lstStyle/>
          <a:p>
            <a:pPr marL="0" indent="0" algn="l">
              <a:lnSpc>
                <a:spcPts val="2350"/>
              </a:lnSpc>
              <a:buNone/>
            </a:pPr>
            <a:r>
              <a:rPr lang="en-US" dirty="0">
                <a:solidFill>
                  <a:srgbClr val="384653"/>
                </a:solidFill>
                <a:latin typeface="Host Grotesk Medium" pitchFamily="34" charset="0"/>
                <a:ea typeface="Host Grotesk Medium" pitchFamily="34" charset="-122"/>
                <a:cs typeface="Host Grotesk Medium" pitchFamily="34" charset="-120"/>
              </a:rPr>
              <a:t>Bioleaching Process</a:t>
            </a:r>
            <a:endParaRPr lang="en-US" dirty="0"/>
          </a:p>
        </p:txBody>
      </p:sp>
      <p:sp>
        <p:nvSpPr>
          <p:cNvPr id="13" name="Text 7"/>
          <p:cNvSpPr/>
          <p:nvPr/>
        </p:nvSpPr>
        <p:spPr>
          <a:xfrm>
            <a:off x="1828681" y="4843701"/>
            <a:ext cx="6641544" cy="288727"/>
          </a:xfrm>
          <a:prstGeom prst="rect">
            <a:avLst/>
          </a:prstGeom>
          <a:noFill/>
          <a:ln/>
        </p:spPr>
        <p:txBody>
          <a:bodyPr wrap="none" lIns="0" tIns="0" rIns="0" bIns="0" rtlCol="0" anchor="t"/>
          <a:lstStyle/>
          <a:p>
            <a:pPr marL="0" indent="0" algn="l">
              <a:lnSpc>
                <a:spcPts val="2250"/>
              </a:lnSpc>
              <a:buNone/>
            </a:pPr>
            <a:r>
              <a:rPr lang="en-US" sz="1550" dirty="0">
                <a:solidFill>
                  <a:srgbClr val="384653"/>
                </a:solidFill>
                <a:latin typeface="Roboto" pitchFamily="34" charset="0"/>
                <a:ea typeface="Roboto" pitchFamily="34" charset="-122"/>
                <a:cs typeface="Roboto" pitchFamily="34" charset="-120"/>
              </a:rPr>
              <a:t>Bacteria produce cyanide compounds that selectively bind to metals</a:t>
            </a:r>
            <a:endParaRPr lang="en-US" sz="1550" dirty="0"/>
          </a:p>
        </p:txBody>
      </p:sp>
      <p:pic>
        <p:nvPicPr>
          <p:cNvPr id="14" name="Image 4" descr="preencoded.png"/>
          <p:cNvPicPr>
            <a:picLocks noChangeAspect="1"/>
          </p:cNvPicPr>
          <p:nvPr/>
        </p:nvPicPr>
        <p:blipFill>
          <a:blip r:embed="rId6"/>
          <a:stretch>
            <a:fillRect/>
          </a:stretch>
        </p:blipFill>
        <p:spPr>
          <a:xfrm>
            <a:off x="673775" y="5390078"/>
            <a:ext cx="962501" cy="1155025"/>
          </a:xfrm>
          <a:prstGeom prst="rect">
            <a:avLst/>
          </a:prstGeom>
        </p:spPr>
      </p:pic>
      <p:sp>
        <p:nvSpPr>
          <p:cNvPr id="15" name="Text 8"/>
          <p:cNvSpPr/>
          <p:nvPr/>
        </p:nvSpPr>
        <p:spPr>
          <a:xfrm>
            <a:off x="1828681" y="5582483"/>
            <a:ext cx="2406372" cy="300752"/>
          </a:xfrm>
          <a:prstGeom prst="rect">
            <a:avLst/>
          </a:prstGeom>
          <a:noFill/>
          <a:ln/>
        </p:spPr>
        <p:txBody>
          <a:bodyPr wrap="none" lIns="0" tIns="0" rIns="0" bIns="0" rtlCol="0" anchor="t"/>
          <a:lstStyle/>
          <a:p>
            <a:pPr marL="0" indent="0" algn="l">
              <a:lnSpc>
                <a:spcPts val="2350"/>
              </a:lnSpc>
              <a:buNone/>
            </a:pPr>
            <a:r>
              <a:rPr lang="en-US" dirty="0">
                <a:solidFill>
                  <a:srgbClr val="384653"/>
                </a:solidFill>
                <a:latin typeface="Host Grotesk Medium" pitchFamily="34" charset="0"/>
                <a:ea typeface="Host Grotesk Medium" pitchFamily="34" charset="-122"/>
                <a:cs typeface="Host Grotesk Medium" pitchFamily="34" charset="-120"/>
              </a:rPr>
              <a:t>Metal Recovery</a:t>
            </a:r>
            <a:endParaRPr lang="en-US" dirty="0"/>
          </a:p>
        </p:txBody>
      </p:sp>
      <p:sp>
        <p:nvSpPr>
          <p:cNvPr id="16" name="Text 9"/>
          <p:cNvSpPr/>
          <p:nvPr/>
        </p:nvSpPr>
        <p:spPr>
          <a:xfrm>
            <a:off x="1828681" y="5998726"/>
            <a:ext cx="6641544" cy="288727"/>
          </a:xfrm>
          <a:prstGeom prst="rect">
            <a:avLst/>
          </a:prstGeom>
          <a:noFill/>
          <a:ln/>
        </p:spPr>
        <p:txBody>
          <a:bodyPr wrap="none" lIns="0" tIns="0" rIns="0" bIns="0" rtlCol="0" anchor="t"/>
          <a:lstStyle/>
          <a:p>
            <a:pPr marL="0" indent="0" algn="l">
              <a:lnSpc>
                <a:spcPts val="2250"/>
              </a:lnSpc>
              <a:buNone/>
            </a:pPr>
            <a:r>
              <a:rPr lang="en-US" sz="1550" dirty="0">
                <a:solidFill>
                  <a:srgbClr val="384653"/>
                </a:solidFill>
                <a:latin typeface="Roboto" pitchFamily="34" charset="0"/>
                <a:ea typeface="Roboto" pitchFamily="34" charset="-122"/>
                <a:cs typeface="Roboto" pitchFamily="34" charset="-120"/>
              </a:rPr>
              <a:t>Precious metals are separated from the solution</a:t>
            </a:r>
            <a:endParaRPr lang="en-US" sz="1550" dirty="0"/>
          </a:p>
        </p:txBody>
      </p:sp>
      <p:pic>
        <p:nvPicPr>
          <p:cNvPr id="17" name="Image 5" descr="preencoded.png"/>
          <p:cNvPicPr>
            <a:picLocks noChangeAspect="1"/>
          </p:cNvPicPr>
          <p:nvPr/>
        </p:nvPicPr>
        <p:blipFill>
          <a:blip r:embed="rId7"/>
          <a:stretch>
            <a:fillRect/>
          </a:stretch>
        </p:blipFill>
        <p:spPr>
          <a:xfrm>
            <a:off x="673775" y="6545104"/>
            <a:ext cx="962501" cy="1155025"/>
          </a:xfrm>
          <a:prstGeom prst="rect">
            <a:avLst/>
          </a:prstGeom>
        </p:spPr>
      </p:pic>
      <p:sp>
        <p:nvSpPr>
          <p:cNvPr id="18" name="Text 10"/>
          <p:cNvSpPr/>
          <p:nvPr/>
        </p:nvSpPr>
        <p:spPr>
          <a:xfrm>
            <a:off x="1828681" y="6737509"/>
            <a:ext cx="2406372" cy="300752"/>
          </a:xfrm>
          <a:prstGeom prst="rect">
            <a:avLst/>
          </a:prstGeom>
          <a:noFill/>
          <a:ln/>
        </p:spPr>
        <p:txBody>
          <a:bodyPr wrap="none" lIns="0" tIns="0" rIns="0" bIns="0" rtlCol="0" anchor="t"/>
          <a:lstStyle/>
          <a:p>
            <a:pPr marL="0" indent="0" algn="l">
              <a:lnSpc>
                <a:spcPts val="2350"/>
              </a:lnSpc>
              <a:buNone/>
            </a:pPr>
            <a:r>
              <a:rPr lang="en-US" dirty="0">
                <a:solidFill>
                  <a:srgbClr val="384653"/>
                </a:solidFill>
                <a:latin typeface="Host Grotesk Medium" pitchFamily="34" charset="0"/>
                <a:ea typeface="Host Grotesk Medium" pitchFamily="34" charset="-122"/>
                <a:cs typeface="Host Grotesk Medium" pitchFamily="34" charset="-120"/>
              </a:rPr>
              <a:t>Purification</a:t>
            </a:r>
            <a:endParaRPr lang="en-US" dirty="0"/>
          </a:p>
        </p:txBody>
      </p:sp>
      <p:sp>
        <p:nvSpPr>
          <p:cNvPr id="19" name="Text 11"/>
          <p:cNvSpPr/>
          <p:nvPr/>
        </p:nvSpPr>
        <p:spPr>
          <a:xfrm>
            <a:off x="1828681" y="7153751"/>
            <a:ext cx="6641544" cy="288727"/>
          </a:xfrm>
          <a:prstGeom prst="rect">
            <a:avLst/>
          </a:prstGeom>
          <a:noFill/>
          <a:ln/>
        </p:spPr>
        <p:txBody>
          <a:bodyPr wrap="none" lIns="0" tIns="0" rIns="0" bIns="0" rtlCol="0" anchor="t"/>
          <a:lstStyle/>
          <a:p>
            <a:pPr marL="0" indent="0" algn="l">
              <a:lnSpc>
                <a:spcPts val="2250"/>
              </a:lnSpc>
              <a:buNone/>
            </a:pPr>
            <a:r>
              <a:rPr lang="en-US" sz="1550" dirty="0">
                <a:solidFill>
                  <a:srgbClr val="384653"/>
                </a:solidFill>
                <a:latin typeface="Roboto" pitchFamily="34" charset="0"/>
                <a:ea typeface="Roboto" pitchFamily="34" charset="-122"/>
                <a:cs typeface="Roboto" pitchFamily="34" charset="-120"/>
              </a:rPr>
              <a:t>Recovered metals are refined to high purity levels</a:t>
            </a:r>
            <a:endParaRPr lang="en-US" sz="1550" dirty="0"/>
          </a:p>
        </p:txBody>
      </p:sp>
      <p:pic>
        <p:nvPicPr>
          <p:cNvPr id="21" name="Picture 20">
            <a:extLst>
              <a:ext uri="{FF2B5EF4-FFF2-40B4-BE49-F238E27FC236}">
                <a16:creationId xmlns:a16="http://schemas.microsoft.com/office/drawing/2014/main" id="{47B2B87F-2C99-E100-77D6-69162936019E}"/>
              </a:ext>
            </a:extLst>
          </p:cNvPr>
          <p:cNvPicPr>
            <a:picLocks noChangeAspect="1"/>
          </p:cNvPicPr>
          <p:nvPr/>
        </p:nvPicPr>
        <p:blipFill>
          <a:blip r:embed="rId8"/>
          <a:stretch>
            <a:fillRect/>
          </a:stretch>
        </p:blipFill>
        <p:spPr>
          <a:xfrm>
            <a:off x="9568457" y="830223"/>
            <a:ext cx="3382645" cy="3133725"/>
          </a:xfrm>
          <a:prstGeom prst="rect">
            <a:avLst/>
          </a:prstGeom>
        </p:spPr>
      </p:pic>
      <p:pic>
        <p:nvPicPr>
          <p:cNvPr id="22" name="Picture 21">
            <a:extLst>
              <a:ext uri="{FF2B5EF4-FFF2-40B4-BE49-F238E27FC236}">
                <a16:creationId xmlns:a16="http://schemas.microsoft.com/office/drawing/2014/main" id="{98014B92-A324-90EC-E6F9-9C44C3FA0466}"/>
              </a:ext>
            </a:extLst>
          </p:cNvPr>
          <p:cNvPicPr>
            <a:picLocks noChangeAspect="1"/>
          </p:cNvPicPr>
          <p:nvPr/>
        </p:nvPicPr>
        <p:blipFill>
          <a:blip r:embed="rId9"/>
          <a:stretch>
            <a:fillRect/>
          </a:stretch>
        </p:blipFill>
        <p:spPr>
          <a:xfrm>
            <a:off x="8662630" y="4541072"/>
            <a:ext cx="5194300" cy="2955925"/>
          </a:xfrm>
          <a:prstGeom prst="rect">
            <a:avLst/>
          </a:prstGeom>
        </p:spPr>
      </p:pic>
      <p:sp>
        <p:nvSpPr>
          <p:cNvPr id="23" name="TextBox 22">
            <a:extLst>
              <a:ext uri="{FF2B5EF4-FFF2-40B4-BE49-F238E27FC236}">
                <a16:creationId xmlns:a16="http://schemas.microsoft.com/office/drawing/2014/main" id="{C83FE4B9-40A4-EB8D-E7F0-0301573872E0}"/>
              </a:ext>
            </a:extLst>
          </p:cNvPr>
          <p:cNvSpPr txBox="1"/>
          <p:nvPr/>
        </p:nvSpPr>
        <p:spPr>
          <a:xfrm>
            <a:off x="9822179" y="7515463"/>
            <a:ext cx="3078087" cy="369332"/>
          </a:xfrm>
          <a:prstGeom prst="rect">
            <a:avLst/>
          </a:prstGeom>
          <a:noFill/>
        </p:spPr>
        <p:txBody>
          <a:bodyPr wrap="none" rtlCol="0">
            <a:spAutoFit/>
          </a:bodyPr>
          <a:lstStyle/>
          <a:p>
            <a:r>
              <a:rPr lang="en-US" dirty="0"/>
              <a:t>Pic 1,2: Extracting the bacteria</a:t>
            </a:r>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3509" y="545533"/>
            <a:ext cx="3985022" cy="404932"/>
          </a:xfrm>
          <a:prstGeom prst="rect">
            <a:avLst/>
          </a:prstGeom>
          <a:noFill/>
          <a:ln/>
        </p:spPr>
        <p:txBody>
          <a:bodyPr wrap="none" lIns="0" tIns="0" rIns="0" bIns="0" rtlCol="0" anchor="t"/>
          <a:lstStyle/>
          <a:p>
            <a:pPr marL="0" indent="0" algn="l">
              <a:lnSpc>
                <a:spcPts val="3150"/>
              </a:lnSpc>
              <a:buNone/>
            </a:pPr>
            <a:r>
              <a:rPr lang="en-US" sz="3200" dirty="0">
                <a:solidFill>
                  <a:srgbClr val="2E3C4E"/>
                </a:solidFill>
                <a:latin typeface="Host Grotesk Medium" pitchFamily="34" charset="0"/>
                <a:ea typeface="Host Grotesk Medium" pitchFamily="34" charset="-122"/>
                <a:cs typeface="Host Grotesk Medium" pitchFamily="34" charset="-120"/>
              </a:rPr>
              <a:t>Prototype &amp; Sample Model</a:t>
            </a:r>
            <a:endParaRPr lang="en-US" sz="3200" dirty="0"/>
          </a:p>
        </p:txBody>
      </p:sp>
      <p:sp>
        <p:nvSpPr>
          <p:cNvPr id="5" name="Text 2"/>
          <p:cNvSpPr/>
          <p:nvPr/>
        </p:nvSpPr>
        <p:spPr>
          <a:xfrm>
            <a:off x="453509" y="1193672"/>
            <a:ext cx="1619845" cy="202525"/>
          </a:xfrm>
          <a:prstGeom prst="rect">
            <a:avLst/>
          </a:prstGeom>
          <a:noFill/>
          <a:ln/>
        </p:spPr>
        <p:txBody>
          <a:bodyPr wrap="none" lIns="0" tIns="0" rIns="0" bIns="0" rtlCol="0" anchor="t"/>
          <a:lstStyle/>
          <a:p>
            <a:pPr marL="0" indent="0" algn="l">
              <a:lnSpc>
                <a:spcPts val="1550"/>
              </a:lnSpc>
              <a:buNone/>
            </a:pPr>
            <a:r>
              <a:rPr lang="en-US" sz="2400" dirty="0">
                <a:solidFill>
                  <a:srgbClr val="2E3C4E"/>
                </a:solidFill>
                <a:latin typeface="Host Grotesk Medium" pitchFamily="34" charset="0"/>
                <a:ea typeface="Host Grotesk Medium" pitchFamily="34" charset="-122"/>
                <a:cs typeface="Host Grotesk Medium" pitchFamily="34" charset="-120"/>
              </a:rPr>
              <a:t>Key Components:</a:t>
            </a:r>
          </a:p>
          <a:p>
            <a:pPr marL="0" indent="0" algn="l">
              <a:lnSpc>
                <a:spcPts val="1550"/>
              </a:lnSpc>
              <a:buNone/>
            </a:pPr>
            <a:endParaRPr lang="en-US" sz="2400" dirty="0">
              <a:solidFill>
                <a:srgbClr val="2E3C4E"/>
              </a:solidFill>
              <a:latin typeface="Host Grotesk Medium" pitchFamily="34" charset="0"/>
              <a:ea typeface="Host Grotesk Medium" pitchFamily="34" charset="-122"/>
              <a:cs typeface="Host Grotesk Medium" pitchFamily="34" charset="-120"/>
            </a:endParaRPr>
          </a:p>
          <a:p>
            <a:pPr marL="0" indent="0" algn="l">
              <a:lnSpc>
                <a:spcPts val="1550"/>
              </a:lnSpc>
              <a:buNone/>
            </a:pPr>
            <a:endParaRPr lang="en-US" sz="2400" dirty="0">
              <a:solidFill>
                <a:srgbClr val="2E3C4E"/>
              </a:solidFill>
              <a:latin typeface="Host Grotesk Medium" pitchFamily="34" charset="0"/>
              <a:ea typeface="Host Grotesk Medium" pitchFamily="34" charset="-122"/>
              <a:cs typeface="Host Grotesk Medium" pitchFamily="34" charset="-120"/>
            </a:endParaRPr>
          </a:p>
          <a:p>
            <a:pPr marL="0" indent="0" algn="l">
              <a:lnSpc>
                <a:spcPts val="1550"/>
              </a:lnSpc>
              <a:buNone/>
            </a:pPr>
            <a:endParaRPr lang="en-US" sz="2400" dirty="0">
              <a:solidFill>
                <a:srgbClr val="2E3C4E"/>
              </a:solidFill>
              <a:latin typeface="Host Grotesk Medium" pitchFamily="34" charset="0"/>
              <a:ea typeface="Host Grotesk Medium" pitchFamily="34" charset="-122"/>
              <a:cs typeface="Host Grotesk Medium" pitchFamily="34" charset="-120"/>
            </a:endParaRPr>
          </a:p>
          <a:p>
            <a:pPr marL="0" indent="0" algn="l">
              <a:lnSpc>
                <a:spcPts val="1550"/>
              </a:lnSpc>
              <a:buNone/>
            </a:pPr>
            <a:endParaRPr lang="en-US" sz="2400" dirty="0">
              <a:solidFill>
                <a:srgbClr val="2E3C4E"/>
              </a:solidFill>
              <a:latin typeface="Host Grotesk Medium" pitchFamily="34" charset="0"/>
              <a:ea typeface="Host Grotesk Medium" pitchFamily="34" charset="-122"/>
              <a:cs typeface="Host Grotesk Medium" pitchFamily="34" charset="-120"/>
            </a:endParaRPr>
          </a:p>
          <a:p>
            <a:pPr marL="0" indent="0" algn="l">
              <a:lnSpc>
                <a:spcPts val="1550"/>
              </a:lnSpc>
              <a:buNone/>
            </a:pPr>
            <a:endParaRPr lang="en-US" sz="2400" dirty="0"/>
          </a:p>
        </p:txBody>
      </p:sp>
      <p:sp>
        <p:nvSpPr>
          <p:cNvPr id="6" name="Text 3"/>
          <p:cNvSpPr/>
          <p:nvPr/>
        </p:nvSpPr>
        <p:spPr>
          <a:xfrm>
            <a:off x="494555" y="1647447"/>
            <a:ext cx="6703695" cy="194310"/>
          </a:xfrm>
          <a:prstGeom prst="rect">
            <a:avLst/>
          </a:prstGeom>
          <a:noFill/>
          <a:ln/>
        </p:spPr>
        <p:txBody>
          <a:bodyPr wrap="none" lIns="0" tIns="0" rIns="0" bIns="0" rtlCol="0" anchor="t"/>
          <a:lstStyle/>
          <a:p>
            <a:pPr marL="342900" indent="-342900" algn="l">
              <a:lnSpc>
                <a:spcPts val="1500"/>
              </a:lnSpc>
              <a:buSzPct val="100000"/>
              <a:buChar char="•"/>
            </a:pPr>
            <a:r>
              <a:rPr lang="en-US" dirty="0">
                <a:solidFill>
                  <a:srgbClr val="384653"/>
                </a:solidFill>
                <a:latin typeface="Roboto" pitchFamily="34" charset="0"/>
                <a:ea typeface="Roboto" pitchFamily="34" charset="-122"/>
                <a:cs typeface="Roboto" pitchFamily="34" charset="-120"/>
              </a:rPr>
              <a:t>Bioreactor vessel with temperature control</a:t>
            </a:r>
            <a:endParaRPr lang="en-US" dirty="0"/>
          </a:p>
        </p:txBody>
      </p:sp>
      <p:sp>
        <p:nvSpPr>
          <p:cNvPr id="7" name="Text 4"/>
          <p:cNvSpPr/>
          <p:nvPr/>
        </p:nvSpPr>
        <p:spPr>
          <a:xfrm>
            <a:off x="494556" y="1948295"/>
            <a:ext cx="6703695" cy="194310"/>
          </a:xfrm>
          <a:prstGeom prst="rect">
            <a:avLst/>
          </a:prstGeom>
          <a:noFill/>
          <a:ln/>
        </p:spPr>
        <p:txBody>
          <a:bodyPr wrap="none" lIns="0" tIns="0" rIns="0" bIns="0" rtlCol="0" anchor="t"/>
          <a:lstStyle/>
          <a:p>
            <a:pPr marL="342900" indent="-342900" algn="l">
              <a:lnSpc>
                <a:spcPts val="1500"/>
              </a:lnSpc>
              <a:buSzPct val="100000"/>
              <a:buChar char="•"/>
            </a:pPr>
            <a:r>
              <a:rPr lang="en-US" dirty="0">
                <a:solidFill>
                  <a:srgbClr val="384653"/>
                </a:solidFill>
                <a:latin typeface="Roboto" pitchFamily="34" charset="0"/>
                <a:ea typeface="Roboto" pitchFamily="34" charset="-122"/>
                <a:cs typeface="Roboto" pitchFamily="34" charset="-120"/>
              </a:rPr>
              <a:t>Bacterial culture maintenance system</a:t>
            </a:r>
            <a:endParaRPr lang="en-US" dirty="0"/>
          </a:p>
        </p:txBody>
      </p:sp>
      <p:sp>
        <p:nvSpPr>
          <p:cNvPr id="8" name="Text 5"/>
          <p:cNvSpPr/>
          <p:nvPr/>
        </p:nvSpPr>
        <p:spPr>
          <a:xfrm>
            <a:off x="494557" y="2271459"/>
            <a:ext cx="6703695" cy="194310"/>
          </a:xfrm>
          <a:prstGeom prst="rect">
            <a:avLst/>
          </a:prstGeom>
          <a:noFill/>
          <a:ln/>
        </p:spPr>
        <p:txBody>
          <a:bodyPr wrap="none" lIns="0" tIns="0" rIns="0" bIns="0" rtlCol="0" anchor="t"/>
          <a:lstStyle/>
          <a:p>
            <a:pPr marL="342900" indent="-342900" algn="l">
              <a:lnSpc>
                <a:spcPts val="1500"/>
              </a:lnSpc>
              <a:buSzPct val="100000"/>
              <a:buChar char="•"/>
            </a:pPr>
            <a:r>
              <a:rPr lang="en-US" dirty="0">
                <a:solidFill>
                  <a:srgbClr val="384653"/>
                </a:solidFill>
                <a:latin typeface="Roboto" pitchFamily="34" charset="0"/>
                <a:ea typeface="Roboto" pitchFamily="34" charset="-122"/>
                <a:cs typeface="Roboto" pitchFamily="34" charset="-120"/>
              </a:rPr>
              <a:t>Metal recovery unit</a:t>
            </a:r>
            <a:endParaRPr lang="en-US" dirty="0"/>
          </a:p>
        </p:txBody>
      </p:sp>
      <p:sp>
        <p:nvSpPr>
          <p:cNvPr id="9" name="Text 6"/>
          <p:cNvSpPr/>
          <p:nvPr/>
        </p:nvSpPr>
        <p:spPr>
          <a:xfrm>
            <a:off x="494557" y="2587064"/>
            <a:ext cx="6703695" cy="194310"/>
          </a:xfrm>
          <a:prstGeom prst="rect">
            <a:avLst/>
          </a:prstGeom>
          <a:noFill/>
          <a:ln/>
        </p:spPr>
        <p:txBody>
          <a:bodyPr wrap="none" lIns="0" tIns="0" rIns="0" bIns="0" rtlCol="0" anchor="t"/>
          <a:lstStyle/>
          <a:p>
            <a:pPr marL="342900" indent="-342900" algn="l">
              <a:lnSpc>
                <a:spcPts val="1500"/>
              </a:lnSpc>
              <a:buSzPct val="100000"/>
              <a:buChar char="•"/>
            </a:pPr>
            <a:r>
              <a:rPr lang="en-US" dirty="0">
                <a:solidFill>
                  <a:srgbClr val="384653"/>
                </a:solidFill>
                <a:latin typeface="Roboto" pitchFamily="34" charset="0"/>
                <a:ea typeface="Roboto" pitchFamily="34" charset="-122"/>
                <a:cs typeface="Roboto" pitchFamily="34" charset="-120"/>
              </a:rPr>
              <a:t>Process monitoring sensors</a:t>
            </a:r>
            <a:endParaRPr lang="en-US" dirty="0"/>
          </a:p>
        </p:txBody>
      </p:sp>
      <p:sp>
        <p:nvSpPr>
          <p:cNvPr id="10" name="Text 7"/>
          <p:cNvSpPr/>
          <p:nvPr/>
        </p:nvSpPr>
        <p:spPr>
          <a:xfrm>
            <a:off x="494557" y="2908390"/>
            <a:ext cx="6703695" cy="194310"/>
          </a:xfrm>
          <a:prstGeom prst="rect">
            <a:avLst/>
          </a:prstGeom>
          <a:noFill/>
          <a:ln/>
        </p:spPr>
        <p:txBody>
          <a:bodyPr wrap="none" lIns="0" tIns="0" rIns="0" bIns="0" rtlCol="0" anchor="t"/>
          <a:lstStyle/>
          <a:p>
            <a:pPr marL="342900" indent="-342900" algn="l">
              <a:lnSpc>
                <a:spcPts val="1500"/>
              </a:lnSpc>
              <a:buSzPct val="100000"/>
              <a:buChar char="•"/>
            </a:pPr>
            <a:r>
              <a:rPr lang="en-US" dirty="0">
                <a:solidFill>
                  <a:srgbClr val="384653"/>
                </a:solidFill>
                <a:latin typeface="Roboto" pitchFamily="34" charset="0"/>
                <a:ea typeface="Roboto" pitchFamily="34" charset="-122"/>
                <a:cs typeface="Roboto" pitchFamily="34" charset="-120"/>
              </a:rPr>
              <a:t>Filtration system</a:t>
            </a:r>
            <a:endParaRPr lang="en-US" dirty="0"/>
          </a:p>
        </p:txBody>
      </p:sp>
      <p:sp>
        <p:nvSpPr>
          <p:cNvPr id="11" name="Text 8"/>
          <p:cNvSpPr/>
          <p:nvPr/>
        </p:nvSpPr>
        <p:spPr>
          <a:xfrm>
            <a:off x="453509" y="3462568"/>
            <a:ext cx="2591872" cy="323969"/>
          </a:xfrm>
          <a:prstGeom prst="rect">
            <a:avLst/>
          </a:prstGeom>
          <a:noFill/>
          <a:ln/>
        </p:spPr>
        <p:txBody>
          <a:bodyPr wrap="none" lIns="0" tIns="0" rIns="0" bIns="0" rtlCol="0" anchor="t"/>
          <a:lstStyle/>
          <a:p>
            <a:pPr marL="0" indent="0" algn="l">
              <a:lnSpc>
                <a:spcPts val="2550"/>
              </a:lnSpc>
              <a:buNone/>
            </a:pPr>
            <a:r>
              <a:rPr lang="en-US" sz="2400" dirty="0">
                <a:solidFill>
                  <a:srgbClr val="2E3C4E"/>
                </a:solidFill>
                <a:latin typeface="Host Grotesk Medium" pitchFamily="34" charset="0"/>
                <a:ea typeface="Host Grotesk Medium" pitchFamily="34" charset="-122"/>
                <a:cs typeface="Host Grotesk Medium" pitchFamily="34" charset="-120"/>
              </a:rPr>
              <a:t>Technology Used:</a:t>
            </a:r>
            <a:endParaRPr lang="en-US" sz="2400" dirty="0"/>
          </a:p>
        </p:txBody>
      </p:sp>
      <p:pic>
        <p:nvPicPr>
          <p:cNvPr id="12" name="Image 1" descr="preencoded.png"/>
          <p:cNvPicPr>
            <a:picLocks noChangeAspect="1"/>
          </p:cNvPicPr>
          <p:nvPr/>
        </p:nvPicPr>
        <p:blipFill>
          <a:blip r:embed="rId3"/>
          <a:stretch>
            <a:fillRect/>
          </a:stretch>
        </p:blipFill>
        <p:spPr>
          <a:xfrm>
            <a:off x="529417" y="3952927"/>
            <a:ext cx="323969" cy="323969"/>
          </a:xfrm>
          <a:prstGeom prst="rect">
            <a:avLst/>
          </a:prstGeom>
        </p:spPr>
      </p:pic>
      <p:sp>
        <p:nvSpPr>
          <p:cNvPr id="13" name="Text 9"/>
          <p:cNvSpPr/>
          <p:nvPr/>
        </p:nvSpPr>
        <p:spPr>
          <a:xfrm>
            <a:off x="1015311" y="4029841"/>
            <a:ext cx="1619845" cy="202525"/>
          </a:xfrm>
          <a:prstGeom prst="rect">
            <a:avLst/>
          </a:prstGeom>
          <a:noFill/>
          <a:ln/>
        </p:spPr>
        <p:txBody>
          <a:bodyPr wrap="none" lIns="0" tIns="0" rIns="0" bIns="0" rtlCol="0" anchor="t"/>
          <a:lstStyle/>
          <a:p>
            <a:pPr marL="0" indent="0" algn="l">
              <a:lnSpc>
                <a:spcPts val="1550"/>
              </a:lnSpc>
              <a:buNone/>
            </a:pPr>
            <a:r>
              <a:rPr lang="en-US" sz="2000" dirty="0">
                <a:solidFill>
                  <a:srgbClr val="384653"/>
                </a:solidFill>
                <a:latin typeface="Host Grotesk Medium" pitchFamily="34" charset="0"/>
                <a:ea typeface="Host Grotesk Medium" pitchFamily="34" charset="-122"/>
                <a:cs typeface="Host Grotesk Medium" pitchFamily="34" charset="-120"/>
              </a:rPr>
              <a:t>Bioreactors</a:t>
            </a:r>
            <a:endParaRPr lang="en-US" sz="2000" dirty="0"/>
          </a:p>
        </p:txBody>
      </p:sp>
      <p:sp>
        <p:nvSpPr>
          <p:cNvPr id="14" name="Text 10"/>
          <p:cNvSpPr/>
          <p:nvPr/>
        </p:nvSpPr>
        <p:spPr>
          <a:xfrm>
            <a:off x="1015311" y="4310114"/>
            <a:ext cx="6294834" cy="194310"/>
          </a:xfrm>
          <a:prstGeom prst="rect">
            <a:avLst/>
          </a:prstGeom>
          <a:noFill/>
          <a:ln/>
        </p:spPr>
        <p:txBody>
          <a:bodyPr wrap="none" lIns="0" tIns="0" rIns="0" bIns="0" rtlCol="0" anchor="t"/>
          <a:lstStyle/>
          <a:p>
            <a:pPr marL="0" indent="0" algn="l">
              <a:lnSpc>
                <a:spcPts val="1500"/>
              </a:lnSpc>
              <a:buNone/>
            </a:pPr>
            <a:r>
              <a:rPr lang="en-US" sz="1400" dirty="0">
                <a:solidFill>
                  <a:srgbClr val="384653"/>
                </a:solidFill>
                <a:latin typeface="Roboto" pitchFamily="34" charset="0"/>
                <a:ea typeface="Roboto" pitchFamily="34" charset="-122"/>
                <a:cs typeface="Roboto" pitchFamily="34" charset="-120"/>
              </a:rPr>
              <a:t>For controlled bacterial growth and metal extraction</a:t>
            </a:r>
            <a:endParaRPr lang="en-US" sz="1400" dirty="0"/>
          </a:p>
        </p:txBody>
      </p:sp>
      <p:pic>
        <p:nvPicPr>
          <p:cNvPr id="15" name="Image 2" descr="preencoded.png"/>
          <p:cNvPicPr>
            <a:picLocks noChangeAspect="1"/>
          </p:cNvPicPr>
          <p:nvPr/>
        </p:nvPicPr>
        <p:blipFill>
          <a:blip r:embed="rId4"/>
          <a:stretch>
            <a:fillRect/>
          </a:stretch>
        </p:blipFill>
        <p:spPr>
          <a:xfrm>
            <a:off x="529417" y="5626655"/>
            <a:ext cx="323969" cy="323969"/>
          </a:xfrm>
          <a:prstGeom prst="rect">
            <a:avLst/>
          </a:prstGeom>
        </p:spPr>
      </p:pic>
      <p:sp>
        <p:nvSpPr>
          <p:cNvPr id="16" name="Text 11"/>
          <p:cNvSpPr/>
          <p:nvPr/>
        </p:nvSpPr>
        <p:spPr>
          <a:xfrm>
            <a:off x="1015312" y="5703569"/>
            <a:ext cx="1619845" cy="202525"/>
          </a:xfrm>
          <a:prstGeom prst="rect">
            <a:avLst/>
          </a:prstGeom>
          <a:noFill/>
          <a:ln/>
        </p:spPr>
        <p:txBody>
          <a:bodyPr wrap="none" lIns="0" tIns="0" rIns="0" bIns="0" rtlCol="0" anchor="t"/>
          <a:lstStyle/>
          <a:p>
            <a:pPr marL="0" indent="0" algn="l">
              <a:lnSpc>
                <a:spcPts val="1550"/>
              </a:lnSpc>
              <a:buNone/>
            </a:pPr>
            <a:r>
              <a:rPr lang="en-US" sz="2000" dirty="0">
                <a:solidFill>
                  <a:srgbClr val="384653"/>
                </a:solidFill>
                <a:latin typeface="Host Grotesk Medium" pitchFamily="34" charset="0"/>
                <a:ea typeface="Host Grotesk Medium" pitchFamily="34" charset="-122"/>
                <a:cs typeface="Host Grotesk Medium" pitchFamily="34" charset="-120"/>
              </a:rPr>
              <a:t>Chromatography</a:t>
            </a:r>
            <a:endParaRPr lang="en-US" sz="2000" dirty="0"/>
          </a:p>
        </p:txBody>
      </p:sp>
      <p:sp>
        <p:nvSpPr>
          <p:cNvPr id="17" name="Text 12"/>
          <p:cNvSpPr/>
          <p:nvPr/>
        </p:nvSpPr>
        <p:spPr>
          <a:xfrm>
            <a:off x="1015312" y="5983842"/>
            <a:ext cx="6294834" cy="194310"/>
          </a:xfrm>
          <a:prstGeom prst="rect">
            <a:avLst/>
          </a:prstGeom>
          <a:noFill/>
          <a:ln/>
        </p:spPr>
        <p:txBody>
          <a:bodyPr wrap="none" lIns="0" tIns="0" rIns="0" bIns="0" rtlCol="0" anchor="t"/>
          <a:lstStyle/>
          <a:p>
            <a:pPr marL="0" indent="0" algn="l">
              <a:lnSpc>
                <a:spcPts val="1500"/>
              </a:lnSpc>
              <a:buNone/>
            </a:pPr>
            <a:r>
              <a:rPr lang="en-US" sz="1400" dirty="0">
                <a:solidFill>
                  <a:srgbClr val="384653"/>
                </a:solidFill>
                <a:latin typeface="Roboto" pitchFamily="34" charset="0"/>
                <a:ea typeface="Roboto" pitchFamily="34" charset="-122"/>
                <a:cs typeface="Roboto" pitchFamily="34" charset="-120"/>
              </a:rPr>
              <a:t>For separation and purification of metals</a:t>
            </a:r>
            <a:endParaRPr lang="en-US" sz="1400" dirty="0"/>
          </a:p>
        </p:txBody>
      </p:sp>
      <p:pic>
        <p:nvPicPr>
          <p:cNvPr id="18" name="Image 3" descr="preencoded.png"/>
          <p:cNvPicPr>
            <a:picLocks noChangeAspect="1"/>
          </p:cNvPicPr>
          <p:nvPr/>
        </p:nvPicPr>
        <p:blipFill>
          <a:blip r:embed="rId5"/>
          <a:stretch>
            <a:fillRect/>
          </a:stretch>
        </p:blipFill>
        <p:spPr>
          <a:xfrm>
            <a:off x="529417" y="4763504"/>
            <a:ext cx="323969" cy="323969"/>
          </a:xfrm>
          <a:prstGeom prst="rect">
            <a:avLst/>
          </a:prstGeom>
        </p:spPr>
      </p:pic>
      <p:sp>
        <p:nvSpPr>
          <p:cNvPr id="19" name="Text 13"/>
          <p:cNvSpPr/>
          <p:nvPr/>
        </p:nvSpPr>
        <p:spPr>
          <a:xfrm>
            <a:off x="1015311" y="4840419"/>
            <a:ext cx="1619845" cy="202525"/>
          </a:xfrm>
          <a:prstGeom prst="rect">
            <a:avLst/>
          </a:prstGeom>
          <a:noFill/>
          <a:ln/>
        </p:spPr>
        <p:txBody>
          <a:bodyPr wrap="none" lIns="0" tIns="0" rIns="0" bIns="0" rtlCol="0" anchor="t"/>
          <a:lstStyle/>
          <a:p>
            <a:pPr marL="0" indent="0" algn="l">
              <a:lnSpc>
                <a:spcPts val="1550"/>
              </a:lnSpc>
              <a:buNone/>
            </a:pPr>
            <a:r>
              <a:rPr lang="en-US" sz="2000" dirty="0">
                <a:solidFill>
                  <a:srgbClr val="384653"/>
                </a:solidFill>
                <a:latin typeface="Host Grotesk Medium" pitchFamily="34" charset="0"/>
                <a:ea typeface="Host Grotesk Medium" pitchFamily="34" charset="-122"/>
                <a:cs typeface="Host Grotesk Medium" pitchFamily="34" charset="-120"/>
              </a:rPr>
              <a:t>Spectroscopy</a:t>
            </a:r>
            <a:endParaRPr lang="en-US" sz="2000" dirty="0"/>
          </a:p>
        </p:txBody>
      </p:sp>
      <p:sp>
        <p:nvSpPr>
          <p:cNvPr id="20" name="Text 14"/>
          <p:cNvSpPr/>
          <p:nvPr/>
        </p:nvSpPr>
        <p:spPr>
          <a:xfrm>
            <a:off x="1015311" y="5120692"/>
            <a:ext cx="6294834" cy="194310"/>
          </a:xfrm>
          <a:prstGeom prst="rect">
            <a:avLst/>
          </a:prstGeom>
          <a:noFill/>
          <a:ln/>
        </p:spPr>
        <p:txBody>
          <a:bodyPr wrap="none" lIns="0" tIns="0" rIns="0" bIns="0" rtlCol="0" anchor="t"/>
          <a:lstStyle/>
          <a:p>
            <a:pPr marL="0" indent="0" algn="l">
              <a:lnSpc>
                <a:spcPts val="1500"/>
              </a:lnSpc>
              <a:buNone/>
            </a:pPr>
            <a:r>
              <a:rPr lang="en-US" sz="1400" dirty="0">
                <a:solidFill>
                  <a:srgbClr val="384653"/>
                </a:solidFill>
                <a:latin typeface="Roboto" pitchFamily="34" charset="0"/>
                <a:ea typeface="Roboto" pitchFamily="34" charset="-122"/>
                <a:cs typeface="Roboto" pitchFamily="34" charset="-120"/>
              </a:rPr>
              <a:t>For metal concentration analysis</a:t>
            </a:r>
            <a:endParaRPr lang="en-US" sz="1400" dirty="0"/>
          </a:p>
        </p:txBody>
      </p:sp>
      <p:pic>
        <p:nvPicPr>
          <p:cNvPr id="21" name="Image 4" descr="preencoded.png"/>
          <p:cNvPicPr>
            <a:picLocks noChangeAspect="1"/>
          </p:cNvPicPr>
          <p:nvPr/>
        </p:nvPicPr>
        <p:blipFill>
          <a:blip r:embed="rId6"/>
          <a:stretch>
            <a:fillRect/>
          </a:stretch>
        </p:blipFill>
        <p:spPr>
          <a:xfrm>
            <a:off x="529417" y="6437232"/>
            <a:ext cx="323969" cy="323969"/>
          </a:xfrm>
          <a:prstGeom prst="rect">
            <a:avLst/>
          </a:prstGeom>
        </p:spPr>
      </p:pic>
      <p:sp>
        <p:nvSpPr>
          <p:cNvPr id="22" name="Text 15"/>
          <p:cNvSpPr/>
          <p:nvPr/>
        </p:nvSpPr>
        <p:spPr>
          <a:xfrm>
            <a:off x="1015312" y="6514147"/>
            <a:ext cx="1619845" cy="202525"/>
          </a:xfrm>
          <a:prstGeom prst="rect">
            <a:avLst/>
          </a:prstGeom>
          <a:noFill/>
          <a:ln/>
        </p:spPr>
        <p:txBody>
          <a:bodyPr wrap="none" lIns="0" tIns="0" rIns="0" bIns="0" rtlCol="0" anchor="t"/>
          <a:lstStyle/>
          <a:p>
            <a:pPr marL="0" indent="0" algn="l">
              <a:lnSpc>
                <a:spcPts val="1550"/>
              </a:lnSpc>
              <a:buNone/>
            </a:pPr>
            <a:r>
              <a:rPr lang="en-US" sz="2000" dirty="0">
                <a:solidFill>
                  <a:srgbClr val="384653"/>
                </a:solidFill>
                <a:latin typeface="Host Grotesk Medium" pitchFamily="34" charset="0"/>
                <a:ea typeface="Host Grotesk Medium" pitchFamily="34" charset="-122"/>
                <a:cs typeface="Host Grotesk Medium" pitchFamily="34" charset="-120"/>
              </a:rPr>
              <a:t>Genetic Engineering</a:t>
            </a:r>
            <a:endParaRPr lang="en-US" sz="2000" dirty="0"/>
          </a:p>
        </p:txBody>
      </p:sp>
      <p:sp>
        <p:nvSpPr>
          <p:cNvPr id="23" name="Text 16"/>
          <p:cNvSpPr/>
          <p:nvPr/>
        </p:nvSpPr>
        <p:spPr>
          <a:xfrm>
            <a:off x="1015312" y="6794420"/>
            <a:ext cx="6294834" cy="194310"/>
          </a:xfrm>
          <a:prstGeom prst="rect">
            <a:avLst/>
          </a:prstGeom>
          <a:noFill/>
          <a:ln/>
        </p:spPr>
        <p:txBody>
          <a:bodyPr wrap="none" lIns="0" tIns="0" rIns="0" bIns="0" rtlCol="0" anchor="t"/>
          <a:lstStyle/>
          <a:p>
            <a:pPr marL="0" indent="0" algn="l">
              <a:lnSpc>
                <a:spcPts val="1500"/>
              </a:lnSpc>
              <a:buNone/>
            </a:pPr>
            <a:r>
              <a:rPr lang="en-US" sz="1400" dirty="0">
                <a:solidFill>
                  <a:srgbClr val="384653"/>
                </a:solidFill>
                <a:latin typeface="Roboto" pitchFamily="34" charset="0"/>
                <a:ea typeface="Roboto" pitchFamily="34" charset="-122"/>
                <a:cs typeface="Roboto" pitchFamily="34" charset="-120"/>
              </a:rPr>
              <a:t>For optimizing bacterial strains</a:t>
            </a:r>
            <a:endParaRPr lang="en-US" sz="1400" dirty="0"/>
          </a:p>
        </p:txBody>
      </p:sp>
      <p:sp>
        <p:nvSpPr>
          <p:cNvPr id="25" name="Text Box 5">
            <a:extLst>
              <a:ext uri="{FF2B5EF4-FFF2-40B4-BE49-F238E27FC236}">
                <a16:creationId xmlns:a16="http://schemas.microsoft.com/office/drawing/2014/main" id="{63B63EC2-DE20-5186-1B95-19B610048139}"/>
              </a:ext>
            </a:extLst>
          </p:cNvPr>
          <p:cNvSpPr txBox="1"/>
          <p:nvPr/>
        </p:nvSpPr>
        <p:spPr>
          <a:xfrm>
            <a:off x="6912888" y="7606879"/>
            <a:ext cx="2031942" cy="338554"/>
          </a:xfrm>
          <a:prstGeom prst="rect">
            <a:avLst/>
          </a:prstGeom>
          <a:noFill/>
        </p:spPr>
        <p:txBody>
          <a:bodyPr wrap="square" rtlCol="0">
            <a:spAutoFit/>
          </a:bodyPr>
          <a:lstStyle/>
          <a:p>
            <a:r>
              <a:rPr lang="en-IN" altLang="en-US" sz="1600" dirty="0"/>
              <a:t>Pic-3: </a:t>
            </a:r>
            <a:r>
              <a:rPr lang="en-IN" altLang="en-US" sz="1600" dirty="0" err="1"/>
              <a:t>Prototye</a:t>
            </a:r>
            <a:r>
              <a:rPr lang="en-IN" altLang="en-US" sz="1600" dirty="0"/>
              <a:t> Image</a:t>
            </a:r>
          </a:p>
        </p:txBody>
      </p:sp>
      <p:pic>
        <p:nvPicPr>
          <p:cNvPr id="26" name="Picture 25">
            <a:extLst>
              <a:ext uri="{FF2B5EF4-FFF2-40B4-BE49-F238E27FC236}">
                <a16:creationId xmlns:a16="http://schemas.microsoft.com/office/drawing/2014/main" id="{22E381E8-E464-2CC9-33D1-0FBC2833D7C8}"/>
              </a:ext>
            </a:extLst>
          </p:cNvPr>
          <p:cNvPicPr>
            <a:picLocks noChangeAspect="1"/>
          </p:cNvPicPr>
          <p:nvPr/>
        </p:nvPicPr>
        <p:blipFill>
          <a:blip r:embed="rId7"/>
          <a:stretch>
            <a:fillRect/>
          </a:stretch>
        </p:blipFill>
        <p:spPr>
          <a:xfrm>
            <a:off x="5792744" y="1647447"/>
            <a:ext cx="4128599" cy="5982321"/>
          </a:xfrm>
          <a:prstGeom prst="rect">
            <a:avLst/>
          </a:prstGeom>
        </p:spPr>
      </p:pic>
      <p:sp>
        <p:nvSpPr>
          <p:cNvPr id="27" name="Text Box 12">
            <a:extLst>
              <a:ext uri="{FF2B5EF4-FFF2-40B4-BE49-F238E27FC236}">
                <a16:creationId xmlns:a16="http://schemas.microsoft.com/office/drawing/2014/main" id="{59610414-F7ED-FE64-3287-B307A651086B}"/>
              </a:ext>
            </a:extLst>
          </p:cNvPr>
          <p:cNvSpPr txBox="1"/>
          <p:nvPr/>
        </p:nvSpPr>
        <p:spPr>
          <a:xfrm>
            <a:off x="11145232" y="7629768"/>
            <a:ext cx="2031941" cy="338554"/>
          </a:xfrm>
          <a:prstGeom prst="rect">
            <a:avLst/>
          </a:prstGeom>
          <a:noFill/>
        </p:spPr>
        <p:txBody>
          <a:bodyPr wrap="square" rtlCol="0">
            <a:spAutoFit/>
          </a:bodyPr>
          <a:lstStyle/>
          <a:p>
            <a:r>
              <a:rPr lang="en-IN" altLang="en-US" sz="1600" dirty="0"/>
              <a:t>Pic-4: Sample Model</a:t>
            </a:r>
          </a:p>
        </p:txBody>
      </p:sp>
      <p:pic>
        <p:nvPicPr>
          <p:cNvPr id="28" name="Picture 27">
            <a:extLst>
              <a:ext uri="{FF2B5EF4-FFF2-40B4-BE49-F238E27FC236}">
                <a16:creationId xmlns:a16="http://schemas.microsoft.com/office/drawing/2014/main" id="{19CCFCAA-F787-F52D-2B9B-D82ABDC0B669}"/>
              </a:ext>
            </a:extLst>
          </p:cNvPr>
          <p:cNvPicPr>
            <a:picLocks noChangeAspect="1"/>
          </p:cNvPicPr>
          <p:nvPr/>
        </p:nvPicPr>
        <p:blipFill>
          <a:blip r:embed="rId8"/>
          <a:srcRect l="27155" r="14694" b="-1595"/>
          <a:stretch>
            <a:fillRect/>
          </a:stretch>
        </p:blipFill>
        <p:spPr>
          <a:xfrm>
            <a:off x="10250794" y="627551"/>
            <a:ext cx="3820819" cy="707647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80060" y="487323"/>
            <a:ext cx="3833693" cy="428625"/>
          </a:xfrm>
          <a:prstGeom prst="rect">
            <a:avLst/>
          </a:prstGeom>
          <a:noFill/>
          <a:ln/>
        </p:spPr>
        <p:txBody>
          <a:bodyPr wrap="none" lIns="0" tIns="0" rIns="0" bIns="0" rtlCol="0" anchor="t"/>
          <a:lstStyle/>
          <a:p>
            <a:pPr marL="0" indent="0" algn="l">
              <a:lnSpc>
                <a:spcPts val="3350"/>
              </a:lnSpc>
              <a:buNone/>
            </a:pPr>
            <a:r>
              <a:rPr lang="en-US" sz="2700" dirty="0">
                <a:solidFill>
                  <a:srgbClr val="2E3C4E"/>
                </a:solidFill>
                <a:latin typeface="Host Grotesk Medium" pitchFamily="34" charset="0"/>
                <a:ea typeface="Host Grotesk Medium" pitchFamily="34" charset="-122"/>
                <a:cs typeface="Host Grotesk Medium" pitchFamily="34" charset="-120"/>
              </a:rPr>
              <a:t>Uniqueness &amp; Innovation</a:t>
            </a:r>
            <a:endParaRPr lang="en-US" sz="2700" dirty="0"/>
          </a:p>
        </p:txBody>
      </p:sp>
      <p:sp>
        <p:nvSpPr>
          <p:cNvPr id="3" name="Shape 1"/>
          <p:cNvSpPr/>
          <p:nvPr/>
        </p:nvSpPr>
        <p:spPr>
          <a:xfrm>
            <a:off x="480060" y="1190268"/>
            <a:ext cx="6766560" cy="1078528"/>
          </a:xfrm>
          <a:prstGeom prst="roundRect">
            <a:avLst>
              <a:gd name="adj" fmla="val 7138"/>
            </a:avLst>
          </a:prstGeom>
          <a:solidFill>
            <a:srgbClr val="FAF9F5"/>
          </a:solidFill>
          <a:ln w="15240">
            <a:solidFill>
              <a:srgbClr val="64B8CE"/>
            </a:solidFill>
            <a:prstDash val="solid"/>
          </a:ln>
        </p:spPr>
        <p:txBody>
          <a:bodyPr/>
          <a:lstStyle/>
          <a:p>
            <a:endParaRPr lang="en-IN"/>
          </a:p>
        </p:txBody>
      </p:sp>
      <p:sp>
        <p:nvSpPr>
          <p:cNvPr id="4" name="Text 2"/>
          <p:cNvSpPr/>
          <p:nvPr/>
        </p:nvSpPr>
        <p:spPr>
          <a:xfrm>
            <a:off x="632460" y="1342668"/>
            <a:ext cx="1782247" cy="214312"/>
          </a:xfrm>
          <a:prstGeom prst="rect">
            <a:avLst/>
          </a:prstGeom>
          <a:noFill/>
          <a:ln/>
        </p:spPr>
        <p:txBody>
          <a:bodyPr wrap="none" lIns="0" tIns="0" rIns="0" bIns="0" rtlCol="0" anchor="t"/>
          <a:lstStyle/>
          <a:p>
            <a:pPr marL="0" indent="0" algn="l">
              <a:lnSpc>
                <a:spcPts val="1650"/>
              </a:lnSpc>
              <a:buNone/>
            </a:pPr>
            <a:r>
              <a:rPr lang="en-US" dirty="0">
                <a:solidFill>
                  <a:srgbClr val="384653"/>
                </a:solidFill>
                <a:latin typeface="Host Grotesk Medium" pitchFamily="34" charset="0"/>
                <a:ea typeface="Host Grotesk Medium" pitchFamily="34" charset="-122"/>
                <a:cs typeface="Host Grotesk Medium" pitchFamily="34" charset="-120"/>
              </a:rPr>
              <a:t>Biological vs. Chemical</a:t>
            </a:r>
            <a:endParaRPr lang="en-US" dirty="0"/>
          </a:p>
        </p:txBody>
      </p:sp>
      <p:sp>
        <p:nvSpPr>
          <p:cNvPr id="5" name="Text 3"/>
          <p:cNvSpPr/>
          <p:nvPr/>
        </p:nvSpPr>
        <p:spPr>
          <a:xfrm>
            <a:off x="632460" y="1639252"/>
            <a:ext cx="6461760" cy="491669"/>
          </a:xfrm>
          <a:prstGeom prst="rect">
            <a:avLst/>
          </a:prstGeom>
          <a:noFill/>
          <a:ln/>
        </p:spPr>
        <p:txBody>
          <a:bodyPr wrap="none" lIns="0" tIns="0" rIns="0" bIns="0" rtlCol="0" anchor="t"/>
          <a:lstStyle/>
          <a:p>
            <a:pPr marL="0" indent="0" algn="l">
              <a:lnSpc>
                <a:spcPts val="1600"/>
              </a:lnSpc>
              <a:buNone/>
            </a:pPr>
            <a:r>
              <a:rPr lang="en-US" sz="1550" dirty="0">
                <a:solidFill>
                  <a:srgbClr val="384653"/>
                </a:solidFill>
                <a:latin typeface="Roboto" pitchFamily="34" charset="0"/>
                <a:ea typeface="Roboto" pitchFamily="34" charset="-122"/>
                <a:cs typeface="Roboto" pitchFamily="34" charset="-120"/>
              </a:rPr>
              <a:t>Uses natural biological processes instead of harsh chemicals for </a:t>
            </a:r>
          </a:p>
          <a:p>
            <a:pPr marL="0" indent="0" algn="l">
              <a:lnSpc>
                <a:spcPts val="1600"/>
              </a:lnSpc>
              <a:buNone/>
            </a:pPr>
            <a:r>
              <a:rPr lang="en-US" sz="1550" dirty="0">
                <a:solidFill>
                  <a:srgbClr val="384653"/>
                </a:solidFill>
                <a:latin typeface="Roboto" pitchFamily="34" charset="0"/>
                <a:ea typeface="Roboto" pitchFamily="34" charset="-122"/>
                <a:cs typeface="Roboto" pitchFamily="34" charset="-120"/>
              </a:rPr>
              <a:t>metal extraction</a:t>
            </a:r>
            <a:endParaRPr lang="en-US" sz="1550" dirty="0"/>
          </a:p>
        </p:txBody>
      </p:sp>
      <p:sp>
        <p:nvSpPr>
          <p:cNvPr id="6" name="Shape 4"/>
          <p:cNvSpPr/>
          <p:nvPr/>
        </p:nvSpPr>
        <p:spPr>
          <a:xfrm>
            <a:off x="7383780" y="1190268"/>
            <a:ext cx="6766560" cy="1078528"/>
          </a:xfrm>
          <a:prstGeom prst="roundRect">
            <a:avLst>
              <a:gd name="adj" fmla="val 7138"/>
            </a:avLst>
          </a:prstGeom>
          <a:solidFill>
            <a:srgbClr val="FAF9F5"/>
          </a:solidFill>
          <a:ln w="15240">
            <a:solidFill>
              <a:srgbClr val="64B8CE"/>
            </a:solidFill>
            <a:prstDash val="solid"/>
          </a:ln>
        </p:spPr>
        <p:txBody>
          <a:bodyPr/>
          <a:lstStyle/>
          <a:p>
            <a:endParaRPr lang="en-IN" sz="1550"/>
          </a:p>
        </p:txBody>
      </p:sp>
      <p:sp>
        <p:nvSpPr>
          <p:cNvPr id="7" name="Text 5"/>
          <p:cNvSpPr/>
          <p:nvPr/>
        </p:nvSpPr>
        <p:spPr>
          <a:xfrm>
            <a:off x="7536180" y="1342668"/>
            <a:ext cx="1714500" cy="214312"/>
          </a:xfrm>
          <a:prstGeom prst="rect">
            <a:avLst/>
          </a:prstGeom>
          <a:noFill/>
          <a:ln/>
        </p:spPr>
        <p:txBody>
          <a:bodyPr wrap="none" lIns="0" tIns="0" rIns="0" bIns="0" rtlCol="0" anchor="t"/>
          <a:lstStyle/>
          <a:p>
            <a:pPr marL="0" indent="0" algn="l">
              <a:lnSpc>
                <a:spcPts val="1650"/>
              </a:lnSpc>
              <a:buNone/>
            </a:pPr>
            <a:r>
              <a:rPr lang="en-US" dirty="0">
                <a:solidFill>
                  <a:srgbClr val="384653"/>
                </a:solidFill>
                <a:latin typeface="Host Grotesk Medium" pitchFamily="34" charset="0"/>
                <a:ea typeface="Host Grotesk Medium" pitchFamily="34" charset="-122"/>
                <a:cs typeface="Host Grotesk Medium" pitchFamily="34" charset="-120"/>
              </a:rPr>
              <a:t>Selective Recovery</a:t>
            </a:r>
            <a:endParaRPr lang="en-US" dirty="0"/>
          </a:p>
        </p:txBody>
      </p:sp>
      <p:sp>
        <p:nvSpPr>
          <p:cNvPr id="8" name="Text 6"/>
          <p:cNvSpPr/>
          <p:nvPr/>
        </p:nvSpPr>
        <p:spPr>
          <a:xfrm>
            <a:off x="7536180" y="1639253"/>
            <a:ext cx="6461760" cy="205740"/>
          </a:xfrm>
          <a:prstGeom prst="rect">
            <a:avLst/>
          </a:prstGeom>
          <a:noFill/>
          <a:ln/>
        </p:spPr>
        <p:txBody>
          <a:bodyPr wrap="none" lIns="0" tIns="0" rIns="0" bIns="0" rtlCol="0" anchor="t"/>
          <a:lstStyle/>
          <a:p>
            <a:pPr marL="0" indent="0" algn="l">
              <a:lnSpc>
                <a:spcPts val="1600"/>
              </a:lnSpc>
              <a:buNone/>
            </a:pPr>
            <a:r>
              <a:rPr lang="en-US" sz="1550" dirty="0">
                <a:solidFill>
                  <a:srgbClr val="384653"/>
                </a:solidFill>
                <a:latin typeface="Roboto" pitchFamily="34" charset="0"/>
                <a:ea typeface="Roboto" pitchFamily="34" charset="-122"/>
                <a:cs typeface="Roboto" pitchFamily="34" charset="-120"/>
              </a:rPr>
              <a:t>Bacteria can be engineered to target specific high-value metals</a:t>
            </a:r>
            <a:endParaRPr lang="en-US" sz="1550" dirty="0"/>
          </a:p>
        </p:txBody>
      </p:sp>
      <p:sp>
        <p:nvSpPr>
          <p:cNvPr id="9" name="Shape 7"/>
          <p:cNvSpPr/>
          <p:nvPr/>
        </p:nvSpPr>
        <p:spPr>
          <a:xfrm>
            <a:off x="480060" y="2473822"/>
            <a:ext cx="6766560" cy="1078528"/>
          </a:xfrm>
          <a:prstGeom prst="roundRect">
            <a:avLst>
              <a:gd name="adj" fmla="val 7138"/>
            </a:avLst>
          </a:prstGeom>
          <a:solidFill>
            <a:srgbClr val="FAF9F5"/>
          </a:solidFill>
          <a:ln w="15240">
            <a:solidFill>
              <a:srgbClr val="64B8CE"/>
            </a:solidFill>
            <a:prstDash val="solid"/>
          </a:ln>
        </p:spPr>
        <p:txBody>
          <a:bodyPr/>
          <a:lstStyle/>
          <a:p>
            <a:endParaRPr lang="en-IN"/>
          </a:p>
        </p:txBody>
      </p:sp>
      <p:sp>
        <p:nvSpPr>
          <p:cNvPr id="10" name="Text 8"/>
          <p:cNvSpPr/>
          <p:nvPr/>
        </p:nvSpPr>
        <p:spPr>
          <a:xfrm>
            <a:off x="636476" y="2637949"/>
            <a:ext cx="2046089" cy="214312"/>
          </a:xfrm>
          <a:prstGeom prst="rect">
            <a:avLst/>
          </a:prstGeom>
          <a:noFill/>
          <a:ln/>
        </p:spPr>
        <p:txBody>
          <a:bodyPr wrap="none" lIns="0" tIns="0" rIns="0" bIns="0" rtlCol="0" anchor="t"/>
          <a:lstStyle/>
          <a:p>
            <a:pPr marL="0" indent="0" algn="l">
              <a:lnSpc>
                <a:spcPts val="1650"/>
              </a:lnSpc>
              <a:buNone/>
            </a:pPr>
            <a:r>
              <a:rPr lang="en-US" dirty="0">
                <a:solidFill>
                  <a:srgbClr val="384653"/>
                </a:solidFill>
                <a:latin typeface="Host Grotesk Medium" pitchFamily="34" charset="0"/>
                <a:ea typeface="Host Grotesk Medium" pitchFamily="34" charset="-122"/>
                <a:cs typeface="Host Grotesk Medium" pitchFamily="34" charset="-120"/>
              </a:rPr>
              <a:t>Low Energy Requirements</a:t>
            </a:r>
            <a:endParaRPr lang="en-US" dirty="0"/>
          </a:p>
        </p:txBody>
      </p:sp>
      <p:sp>
        <p:nvSpPr>
          <p:cNvPr id="11" name="Text 9"/>
          <p:cNvSpPr/>
          <p:nvPr/>
        </p:nvSpPr>
        <p:spPr>
          <a:xfrm>
            <a:off x="636476" y="2954774"/>
            <a:ext cx="6461760" cy="612101"/>
          </a:xfrm>
          <a:prstGeom prst="rect">
            <a:avLst/>
          </a:prstGeom>
          <a:noFill/>
          <a:ln/>
        </p:spPr>
        <p:txBody>
          <a:bodyPr wrap="none" lIns="0" tIns="0" rIns="0" bIns="0" rtlCol="0" anchor="t"/>
          <a:lstStyle/>
          <a:p>
            <a:pPr marL="0" indent="0" algn="l">
              <a:lnSpc>
                <a:spcPts val="1600"/>
              </a:lnSpc>
              <a:buNone/>
            </a:pPr>
            <a:r>
              <a:rPr lang="en-US" sz="1550" dirty="0">
                <a:solidFill>
                  <a:srgbClr val="384653"/>
                </a:solidFill>
                <a:latin typeface="Roboto" pitchFamily="34" charset="0"/>
                <a:ea typeface="Roboto" pitchFamily="34" charset="-122"/>
                <a:cs typeface="Roboto" pitchFamily="34" charset="-120"/>
              </a:rPr>
              <a:t>Operates at ambient temperature and pressure, unlike energy-intensive</a:t>
            </a:r>
          </a:p>
          <a:p>
            <a:pPr marL="0" indent="0" algn="l">
              <a:lnSpc>
                <a:spcPts val="1600"/>
              </a:lnSpc>
              <a:buNone/>
            </a:pPr>
            <a:r>
              <a:rPr lang="en-US" sz="1550" dirty="0">
                <a:solidFill>
                  <a:srgbClr val="384653"/>
                </a:solidFill>
                <a:latin typeface="Roboto" pitchFamily="34" charset="0"/>
                <a:ea typeface="Roboto" pitchFamily="34" charset="-122"/>
                <a:cs typeface="Roboto" pitchFamily="34" charset="-120"/>
              </a:rPr>
              <a:t>traditional methods</a:t>
            </a:r>
            <a:endParaRPr lang="en-US" sz="1550" dirty="0"/>
          </a:p>
        </p:txBody>
      </p:sp>
      <p:sp>
        <p:nvSpPr>
          <p:cNvPr id="12" name="Shape 10"/>
          <p:cNvSpPr/>
          <p:nvPr/>
        </p:nvSpPr>
        <p:spPr>
          <a:xfrm>
            <a:off x="7340138" y="2447808"/>
            <a:ext cx="6766560" cy="1078528"/>
          </a:xfrm>
          <a:prstGeom prst="roundRect">
            <a:avLst>
              <a:gd name="adj" fmla="val 7138"/>
            </a:avLst>
          </a:prstGeom>
          <a:solidFill>
            <a:srgbClr val="FAF9F5"/>
          </a:solidFill>
          <a:ln w="15240">
            <a:solidFill>
              <a:srgbClr val="64B8CE"/>
            </a:solidFill>
            <a:prstDash val="solid"/>
          </a:ln>
        </p:spPr>
        <p:txBody>
          <a:bodyPr/>
          <a:lstStyle/>
          <a:p>
            <a:endParaRPr lang="en-IN"/>
          </a:p>
        </p:txBody>
      </p:sp>
      <p:sp>
        <p:nvSpPr>
          <p:cNvPr id="13" name="Text 11"/>
          <p:cNvSpPr/>
          <p:nvPr/>
        </p:nvSpPr>
        <p:spPr>
          <a:xfrm>
            <a:off x="7536180" y="2637949"/>
            <a:ext cx="1714500" cy="214312"/>
          </a:xfrm>
          <a:prstGeom prst="rect">
            <a:avLst/>
          </a:prstGeom>
          <a:noFill/>
          <a:ln/>
        </p:spPr>
        <p:txBody>
          <a:bodyPr wrap="none" lIns="0" tIns="0" rIns="0" bIns="0" rtlCol="0" anchor="t"/>
          <a:lstStyle/>
          <a:p>
            <a:pPr marL="0" indent="0" algn="l">
              <a:lnSpc>
                <a:spcPts val="1650"/>
              </a:lnSpc>
              <a:buNone/>
            </a:pPr>
            <a:r>
              <a:rPr lang="en-US" dirty="0">
                <a:solidFill>
                  <a:srgbClr val="384653"/>
                </a:solidFill>
                <a:latin typeface="Host Grotesk Medium" pitchFamily="34" charset="0"/>
                <a:ea typeface="Host Grotesk Medium" pitchFamily="34" charset="-122"/>
                <a:cs typeface="Host Grotesk Medium" pitchFamily="34" charset="-120"/>
              </a:rPr>
              <a:t>Circular Economy</a:t>
            </a:r>
            <a:endParaRPr lang="en-US" dirty="0"/>
          </a:p>
        </p:txBody>
      </p:sp>
      <p:sp>
        <p:nvSpPr>
          <p:cNvPr id="14" name="Text 12"/>
          <p:cNvSpPr/>
          <p:nvPr/>
        </p:nvSpPr>
        <p:spPr>
          <a:xfrm>
            <a:off x="7536180" y="2954775"/>
            <a:ext cx="6461760" cy="205740"/>
          </a:xfrm>
          <a:prstGeom prst="rect">
            <a:avLst/>
          </a:prstGeom>
          <a:noFill/>
          <a:ln/>
        </p:spPr>
        <p:txBody>
          <a:bodyPr wrap="none" lIns="0" tIns="0" rIns="0" bIns="0" rtlCol="0" anchor="t"/>
          <a:lstStyle/>
          <a:p>
            <a:pPr marL="0" indent="0" algn="l">
              <a:lnSpc>
                <a:spcPts val="1600"/>
              </a:lnSpc>
              <a:buNone/>
            </a:pPr>
            <a:r>
              <a:rPr lang="en-US" sz="1550" dirty="0">
                <a:solidFill>
                  <a:srgbClr val="384653"/>
                </a:solidFill>
                <a:latin typeface="Roboto" pitchFamily="34" charset="0"/>
                <a:ea typeface="Roboto" pitchFamily="34" charset="-122"/>
                <a:cs typeface="Roboto" pitchFamily="34" charset="-120"/>
              </a:rPr>
              <a:t>Creates a closed-loop system where waste becomes a resource</a:t>
            </a:r>
            <a:endParaRPr lang="en-US" sz="1550" dirty="0"/>
          </a:p>
        </p:txBody>
      </p:sp>
      <p:sp>
        <p:nvSpPr>
          <p:cNvPr id="15" name="Text 13"/>
          <p:cNvSpPr/>
          <p:nvPr/>
        </p:nvSpPr>
        <p:spPr>
          <a:xfrm>
            <a:off x="523702" y="3842504"/>
            <a:ext cx="2743200" cy="342900"/>
          </a:xfrm>
          <a:prstGeom prst="rect">
            <a:avLst/>
          </a:prstGeom>
          <a:noFill/>
          <a:ln/>
        </p:spPr>
        <p:txBody>
          <a:bodyPr wrap="none" lIns="0" tIns="0" rIns="0" bIns="0" rtlCol="0" anchor="t"/>
          <a:lstStyle/>
          <a:p>
            <a:pPr marL="0" indent="0" algn="l">
              <a:lnSpc>
                <a:spcPts val="2700"/>
              </a:lnSpc>
              <a:buNone/>
            </a:pPr>
            <a:r>
              <a:rPr lang="en-US" sz="2700" dirty="0">
                <a:solidFill>
                  <a:srgbClr val="2E3C4E"/>
                </a:solidFill>
                <a:latin typeface="Host Grotesk Medium" pitchFamily="34" charset="0"/>
                <a:ea typeface="Host Grotesk Medium" pitchFamily="34" charset="-122"/>
                <a:cs typeface="Host Grotesk Medium" pitchFamily="34" charset="-120"/>
              </a:rPr>
              <a:t>Feasibility Study</a:t>
            </a:r>
            <a:endParaRPr lang="en-US" sz="2700" dirty="0"/>
          </a:p>
        </p:txBody>
      </p:sp>
      <p:sp>
        <p:nvSpPr>
          <p:cNvPr id="16" name="Text 14"/>
          <p:cNvSpPr/>
          <p:nvPr/>
        </p:nvSpPr>
        <p:spPr>
          <a:xfrm>
            <a:off x="632460" y="4392037"/>
            <a:ext cx="1714500" cy="214312"/>
          </a:xfrm>
          <a:prstGeom prst="rect">
            <a:avLst/>
          </a:prstGeom>
          <a:noFill/>
          <a:ln/>
        </p:spPr>
        <p:txBody>
          <a:bodyPr wrap="none" lIns="0" tIns="0" rIns="0" bIns="0" rtlCol="0" anchor="t"/>
          <a:lstStyle/>
          <a:p>
            <a:pPr marL="0" indent="0" algn="l">
              <a:lnSpc>
                <a:spcPts val="1650"/>
              </a:lnSpc>
              <a:buNone/>
            </a:pPr>
            <a:r>
              <a:rPr lang="en-US" dirty="0">
                <a:solidFill>
                  <a:srgbClr val="2E3C4E"/>
                </a:solidFill>
                <a:latin typeface="Host Grotesk Medium" pitchFamily="34" charset="0"/>
                <a:ea typeface="Host Grotesk Medium" pitchFamily="34" charset="-122"/>
                <a:cs typeface="Host Grotesk Medium" pitchFamily="34" charset="-120"/>
              </a:rPr>
              <a:t>Resources Required:</a:t>
            </a:r>
            <a:endParaRPr lang="en-US" dirty="0"/>
          </a:p>
        </p:txBody>
      </p:sp>
      <p:sp>
        <p:nvSpPr>
          <p:cNvPr id="17" name="Text 15"/>
          <p:cNvSpPr/>
          <p:nvPr/>
        </p:nvSpPr>
        <p:spPr>
          <a:xfrm>
            <a:off x="803670" y="4797810"/>
            <a:ext cx="6667857" cy="205740"/>
          </a:xfrm>
          <a:prstGeom prst="rect">
            <a:avLst/>
          </a:prstGeom>
          <a:noFill/>
          <a:ln/>
        </p:spPr>
        <p:txBody>
          <a:bodyPr wrap="none" lIns="0" tIns="0" rIns="0" bIns="0" rtlCol="0" anchor="t"/>
          <a:lstStyle/>
          <a:p>
            <a:pPr marL="342900" indent="-342900" algn="l">
              <a:buSzPct val="100000"/>
              <a:buChar char="•"/>
            </a:pPr>
            <a:r>
              <a:rPr lang="en-US" sz="1550" dirty="0">
                <a:solidFill>
                  <a:srgbClr val="384653"/>
                </a:solidFill>
                <a:latin typeface="Roboto" pitchFamily="34" charset="0"/>
                <a:ea typeface="Roboto" pitchFamily="34" charset="-122"/>
                <a:cs typeface="Roboto" pitchFamily="34" charset="-120"/>
              </a:rPr>
              <a:t>Laboratory space with basic equipment</a:t>
            </a:r>
            <a:endParaRPr lang="en-US" sz="1550" dirty="0"/>
          </a:p>
        </p:txBody>
      </p:sp>
      <p:sp>
        <p:nvSpPr>
          <p:cNvPr id="18" name="Text 16"/>
          <p:cNvSpPr/>
          <p:nvPr/>
        </p:nvSpPr>
        <p:spPr>
          <a:xfrm>
            <a:off x="803670" y="5133501"/>
            <a:ext cx="6667857" cy="205740"/>
          </a:xfrm>
          <a:prstGeom prst="rect">
            <a:avLst/>
          </a:prstGeom>
          <a:noFill/>
          <a:ln/>
        </p:spPr>
        <p:txBody>
          <a:bodyPr wrap="none" lIns="0" tIns="0" rIns="0" bIns="0" rtlCol="0" anchor="t"/>
          <a:lstStyle/>
          <a:p>
            <a:pPr marL="342900" indent="-342900" algn="l">
              <a:buSzPct val="100000"/>
              <a:buChar char="•"/>
            </a:pPr>
            <a:r>
              <a:rPr lang="en-US" sz="1550" dirty="0">
                <a:solidFill>
                  <a:srgbClr val="384653"/>
                </a:solidFill>
                <a:latin typeface="Roboto" pitchFamily="34" charset="0"/>
                <a:ea typeface="Roboto" pitchFamily="34" charset="-122"/>
                <a:cs typeface="Roboto" pitchFamily="34" charset="-120"/>
              </a:rPr>
              <a:t>Bacterial culture maintenance facilities</a:t>
            </a:r>
            <a:endParaRPr lang="en-US" sz="1550" dirty="0"/>
          </a:p>
        </p:txBody>
      </p:sp>
      <p:sp>
        <p:nvSpPr>
          <p:cNvPr id="19" name="Text 17"/>
          <p:cNvSpPr/>
          <p:nvPr/>
        </p:nvSpPr>
        <p:spPr>
          <a:xfrm>
            <a:off x="803669" y="5490633"/>
            <a:ext cx="6667857" cy="205740"/>
          </a:xfrm>
          <a:prstGeom prst="rect">
            <a:avLst/>
          </a:prstGeom>
          <a:noFill/>
          <a:ln/>
        </p:spPr>
        <p:txBody>
          <a:bodyPr wrap="none" lIns="0" tIns="0" rIns="0" bIns="0" rtlCol="0" anchor="t"/>
          <a:lstStyle/>
          <a:p>
            <a:pPr marL="342900" indent="-342900" algn="l">
              <a:buSzPct val="100000"/>
              <a:buChar char="•"/>
            </a:pPr>
            <a:r>
              <a:rPr lang="en-US" sz="1550" dirty="0">
                <a:solidFill>
                  <a:srgbClr val="384653"/>
                </a:solidFill>
                <a:latin typeface="Roboto" pitchFamily="34" charset="0"/>
                <a:ea typeface="Roboto" pitchFamily="34" charset="-122"/>
                <a:cs typeface="Roboto" pitchFamily="34" charset="-120"/>
              </a:rPr>
              <a:t>E-waste preprocessing equipment</a:t>
            </a:r>
            <a:endParaRPr lang="en-US" sz="1550" dirty="0"/>
          </a:p>
        </p:txBody>
      </p:sp>
      <p:sp>
        <p:nvSpPr>
          <p:cNvPr id="20" name="Text 18"/>
          <p:cNvSpPr/>
          <p:nvPr/>
        </p:nvSpPr>
        <p:spPr>
          <a:xfrm>
            <a:off x="803668" y="5847765"/>
            <a:ext cx="6667857" cy="205740"/>
          </a:xfrm>
          <a:prstGeom prst="rect">
            <a:avLst/>
          </a:prstGeom>
          <a:noFill/>
          <a:ln/>
        </p:spPr>
        <p:txBody>
          <a:bodyPr wrap="none" lIns="0" tIns="0" rIns="0" bIns="0" rtlCol="0" anchor="t"/>
          <a:lstStyle/>
          <a:p>
            <a:pPr marL="342900" indent="-342900" algn="l">
              <a:buSzPct val="100000"/>
              <a:buChar char="•"/>
            </a:pPr>
            <a:r>
              <a:rPr lang="en-US" sz="1550" dirty="0">
                <a:solidFill>
                  <a:srgbClr val="384653"/>
                </a:solidFill>
                <a:latin typeface="Roboto" pitchFamily="34" charset="0"/>
                <a:ea typeface="Roboto" pitchFamily="34" charset="-122"/>
                <a:cs typeface="Roboto" pitchFamily="34" charset="-120"/>
              </a:rPr>
              <a:t>Metal recovery and purification systems</a:t>
            </a:r>
            <a:endParaRPr lang="en-US" sz="1550" dirty="0"/>
          </a:p>
        </p:txBody>
      </p:sp>
      <p:sp>
        <p:nvSpPr>
          <p:cNvPr id="21" name="Text 19"/>
          <p:cNvSpPr/>
          <p:nvPr/>
        </p:nvSpPr>
        <p:spPr>
          <a:xfrm>
            <a:off x="803667" y="6204897"/>
            <a:ext cx="6667857" cy="205740"/>
          </a:xfrm>
          <a:prstGeom prst="rect">
            <a:avLst/>
          </a:prstGeom>
          <a:noFill/>
          <a:ln/>
        </p:spPr>
        <p:txBody>
          <a:bodyPr wrap="none" lIns="0" tIns="0" rIns="0" bIns="0" rtlCol="0" anchor="t"/>
          <a:lstStyle/>
          <a:p>
            <a:pPr marL="342900" indent="-342900" algn="l">
              <a:buSzPct val="100000"/>
              <a:buChar char="•"/>
            </a:pPr>
            <a:r>
              <a:rPr lang="en-US" sz="1550" dirty="0">
                <a:solidFill>
                  <a:srgbClr val="384653"/>
                </a:solidFill>
                <a:latin typeface="Roboto" pitchFamily="34" charset="0"/>
                <a:ea typeface="Roboto" pitchFamily="34" charset="-122"/>
                <a:cs typeface="Roboto" pitchFamily="34" charset="-120"/>
              </a:rPr>
              <a:t>Trained personnel</a:t>
            </a:r>
            <a:endParaRPr lang="en-US" sz="1550" dirty="0"/>
          </a:p>
        </p:txBody>
      </p:sp>
      <p:sp>
        <p:nvSpPr>
          <p:cNvPr id="22" name="Text 20"/>
          <p:cNvSpPr/>
          <p:nvPr/>
        </p:nvSpPr>
        <p:spPr>
          <a:xfrm>
            <a:off x="6736080" y="4392037"/>
            <a:ext cx="1961436" cy="214312"/>
          </a:xfrm>
          <a:prstGeom prst="rect">
            <a:avLst/>
          </a:prstGeom>
          <a:noFill/>
          <a:ln/>
        </p:spPr>
        <p:txBody>
          <a:bodyPr wrap="none" lIns="0" tIns="0" rIns="0" bIns="0" rtlCol="0" anchor="t"/>
          <a:lstStyle/>
          <a:p>
            <a:pPr marL="0" indent="0" algn="l">
              <a:lnSpc>
                <a:spcPts val="1650"/>
              </a:lnSpc>
              <a:buNone/>
            </a:pPr>
            <a:r>
              <a:rPr lang="en-US" dirty="0">
                <a:solidFill>
                  <a:srgbClr val="2E3C4E"/>
                </a:solidFill>
                <a:latin typeface="Host Grotesk Medium" pitchFamily="34" charset="0"/>
                <a:ea typeface="Host Grotesk Medium" pitchFamily="34" charset="-122"/>
                <a:cs typeface="Host Grotesk Medium" pitchFamily="34" charset="-120"/>
              </a:rPr>
              <a:t>Implementation Timeline:</a:t>
            </a:r>
            <a:endParaRPr lang="en-US" dirty="0"/>
          </a:p>
        </p:txBody>
      </p:sp>
      <p:sp>
        <p:nvSpPr>
          <p:cNvPr id="23" name="Shape 21"/>
          <p:cNvSpPr/>
          <p:nvPr/>
        </p:nvSpPr>
        <p:spPr>
          <a:xfrm>
            <a:off x="10062328" y="4760655"/>
            <a:ext cx="45719" cy="3105263"/>
          </a:xfrm>
          <a:prstGeom prst="roundRect">
            <a:avLst>
              <a:gd name="adj" fmla="val 378016"/>
            </a:avLst>
          </a:prstGeom>
          <a:solidFill>
            <a:srgbClr val="BFD3D8"/>
          </a:solidFill>
          <a:ln/>
        </p:spPr>
        <p:txBody>
          <a:bodyPr/>
          <a:lstStyle/>
          <a:p>
            <a:endParaRPr lang="en-IN" sz="1550"/>
          </a:p>
        </p:txBody>
      </p:sp>
      <p:sp>
        <p:nvSpPr>
          <p:cNvPr id="24" name="Shape 22"/>
          <p:cNvSpPr/>
          <p:nvPr/>
        </p:nvSpPr>
        <p:spPr>
          <a:xfrm>
            <a:off x="9519404" y="4907340"/>
            <a:ext cx="411480" cy="15240"/>
          </a:xfrm>
          <a:prstGeom prst="roundRect">
            <a:avLst>
              <a:gd name="adj" fmla="val 378016"/>
            </a:avLst>
          </a:prstGeom>
          <a:solidFill>
            <a:srgbClr val="BFD3D8"/>
          </a:solidFill>
          <a:ln/>
        </p:spPr>
        <p:txBody>
          <a:bodyPr/>
          <a:lstStyle/>
          <a:p>
            <a:endParaRPr lang="en-IN" sz="1550"/>
          </a:p>
        </p:txBody>
      </p:sp>
      <p:sp>
        <p:nvSpPr>
          <p:cNvPr id="25" name="Shape 23"/>
          <p:cNvSpPr/>
          <p:nvPr/>
        </p:nvSpPr>
        <p:spPr>
          <a:xfrm>
            <a:off x="9915644" y="4760655"/>
            <a:ext cx="308610" cy="308610"/>
          </a:xfrm>
          <a:prstGeom prst="roundRect">
            <a:avLst>
              <a:gd name="adj" fmla="val 18667"/>
            </a:avLst>
          </a:prstGeom>
          <a:solidFill>
            <a:srgbClr val="D9EDF2"/>
          </a:solidFill>
          <a:ln w="7620">
            <a:solidFill>
              <a:srgbClr val="BFD3D8"/>
            </a:solidFill>
            <a:prstDash val="solid"/>
          </a:ln>
        </p:spPr>
        <p:txBody>
          <a:bodyPr/>
          <a:lstStyle/>
          <a:p>
            <a:endParaRPr lang="en-IN" sz="1550"/>
          </a:p>
        </p:txBody>
      </p:sp>
      <p:sp>
        <p:nvSpPr>
          <p:cNvPr id="26" name="Text 24"/>
          <p:cNvSpPr/>
          <p:nvPr/>
        </p:nvSpPr>
        <p:spPr>
          <a:xfrm>
            <a:off x="9967079" y="4786372"/>
            <a:ext cx="205740" cy="257175"/>
          </a:xfrm>
          <a:prstGeom prst="rect">
            <a:avLst/>
          </a:prstGeom>
          <a:noFill/>
          <a:ln/>
        </p:spPr>
        <p:txBody>
          <a:bodyPr wrap="none" lIns="0" tIns="0" rIns="0" bIns="0" rtlCol="0" anchor="t"/>
          <a:lstStyle/>
          <a:p>
            <a:pPr marL="0" indent="0" algn="ctr">
              <a:lnSpc>
                <a:spcPts val="1600"/>
              </a:lnSpc>
              <a:buNone/>
            </a:pPr>
            <a:r>
              <a:rPr lang="en-US" sz="1550" dirty="0">
                <a:solidFill>
                  <a:srgbClr val="384653"/>
                </a:solidFill>
                <a:latin typeface="Host Grotesk Medium" pitchFamily="34" charset="0"/>
                <a:ea typeface="Host Grotesk Medium" pitchFamily="34" charset="-122"/>
                <a:cs typeface="Host Grotesk Medium" pitchFamily="34" charset="-120"/>
              </a:rPr>
              <a:t>1</a:t>
            </a:r>
            <a:endParaRPr lang="en-US" sz="1550" dirty="0"/>
          </a:p>
        </p:txBody>
      </p:sp>
      <p:sp>
        <p:nvSpPr>
          <p:cNvPr id="27" name="Text 25"/>
          <p:cNvSpPr/>
          <p:nvPr/>
        </p:nvSpPr>
        <p:spPr>
          <a:xfrm>
            <a:off x="7669649" y="4807803"/>
            <a:ext cx="1714500" cy="214312"/>
          </a:xfrm>
          <a:prstGeom prst="rect">
            <a:avLst/>
          </a:prstGeom>
          <a:noFill/>
          <a:ln/>
        </p:spPr>
        <p:txBody>
          <a:bodyPr wrap="none" lIns="0" tIns="0" rIns="0" bIns="0" rtlCol="0" anchor="t"/>
          <a:lstStyle/>
          <a:p>
            <a:pPr marL="0" indent="0" algn="r">
              <a:lnSpc>
                <a:spcPts val="1650"/>
              </a:lnSpc>
              <a:buNone/>
            </a:pPr>
            <a:r>
              <a:rPr lang="en-US" sz="1550" dirty="0">
                <a:solidFill>
                  <a:srgbClr val="384653"/>
                </a:solidFill>
                <a:latin typeface="Host Grotesk Medium" pitchFamily="34" charset="0"/>
                <a:ea typeface="Host Grotesk Medium" pitchFamily="34" charset="-122"/>
                <a:cs typeface="Host Grotesk Medium" pitchFamily="34" charset="-120"/>
              </a:rPr>
              <a:t>3 months</a:t>
            </a:r>
            <a:endParaRPr lang="en-US" sz="1550" dirty="0"/>
          </a:p>
        </p:txBody>
      </p:sp>
      <p:sp>
        <p:nvSpPr>
          <p:cNvPr id="28" name="Text 26"/>
          <p:cNvSpPr/>
          <p:nvPr/>
        </p:nvSpPr>
        <p:spPr>
          <a:xfrm>
            <a:off x="6736080" y="5159276"/>
            <a:ext cx="2648069" cy="205740"/>
          </a:xfrm>
          <a:prstGeom prst="rect">
            <a:avLst/>
          </a:prstGeom>
          <a:noFill/>
          <a:ln/>
        </p:spPr>
        <p:txBody>
          <a:bodyPr wrap="none" lIns="0" tIns="0" rIns="0" bIns="0" rtlCol="0" anchor="t"/>
          <a:lstStyle/>
          <a:p>
            <a:pPr marL="0" indent="0" algn="r">
              <a:lnSpc>
                <a:spcPts val="1600"/>
              </a:lnSpc>
              <a:buNone/>
            </a:pPr>
            <a:r>
              <a:rPr lang="en-US" sz="1550" dirty="0">
                <a:solidFill>
                  <a:srgbClr val="384653"/>
                </a:solidFill>
                <a:latin typeface="Roboto" pitchFamily="34" charset="0"/>
                <a:ea typeface="Roboto" pitchFamily="34" charset="-122"/>
                <a:cs typeface="Roboto" pitchFamily="34" charset="-120"/>
              </a:rPr>
              <a:t>Lab-scale prototype development</a:t>
            </a:r>
            <a:endParaRPr lang="en-US" sz="1550" dirty="0"/>
          </a:p>
        </p:txBody>
      </p:sp>
      <p:sp>
        <p:nvSpPr>
          <p:cNvPr id="29" name="Shape 27"/>
          <p:cNvSpPr/>
          <p:nvPr/>
        </p:nvSpPr>
        <p:spPr>
          <a:xfrm>
            <a:off x="10209014" y="5730300"/>
            <a:ext cx="411480" cy="15240"/>
          </a:xfrm>
          <a:prstGeom prst="roundRect">
            <a:avLst>
              <a:gd name="adj" fmla="val 378016"/>
            </a:avLst>
          </a:prstGeom>
          <a:solidFill>
            <a:srgbClr val="BFD3D8"/>
          </a:solidFill>
          <a:ln/>
        </p:spPr>
        <p:txBody>
          <a:bodyPr/>
          <a:lstStyle/>
          <a:p>
            <a:endParaRPr lang="en-IN" sz="1550"/>
          </a:p>
        </p:txBody>
      </p:sp>
      <p:sp>
        <p:nvSpPr>
          <p:cNvPr id="30" name="Shape 28"/>
          <p:cNvSpPr/>
          <p:nvPr/>
        </p:nvSpPr>
        <p:spPr>
          <a:xfrm>
            <a:off x="9915644" y="5583615"/>
            <a:ext cx="308610" cy="308610"/>
          </a:xfrm>
          <a:prstGeom prst="roundRect">
            <a:avLst>
              <a:gd name="adj" fmla="val 18667"/>
            </a:avLst>
          </a:prstGeom>
          <a:solidFill>
            <a:srgbClr val="D9EDF2"/>
          </a:solidFill>
          <a:ln w="7620">
            <a:solidFill>
              <a:srgbClr val="BFD3D8"/>
            </a:solidFill>
            <a:prstDash val="solid"/>
          </a:ln>
        </p:spPr>
        <p:txBody>
          <a:bodyPr/>
          <a:lstStyle/>
          <a:p>
            <a:endParaRPr lang="en-IN" sz="1550"/>
          </a:p>
        </p:txBody>
      </p:sp>
      <p:sp>
        <p:nvSpPr>
          <p:cNvPr id="31" name="Text 29"/>
          <p:cNvSpPr/>
          <p:nvPr/>
        </p:nvSpPr>
        <p:spPr>
          <a:xfrm>
            <a:off x="9967079" y="5609332"/>
            <a:ext cx="205740" cy="257175"/>
          </a:xfrm>
          <a:prstGeom prst="rect">
            <a:avLst/>
          </a:prstGeom>
          <a:noFill/>
          <a:ln/>
        </p:spPr>
        <p:txBody>
          <a:bodyPr wrap="none" lIns="0" tIns="0" rIns="0" bIns="0" rtlCol="0" anchor="t"/>
          <a:lstStyle/>
          <a:p>
            <a:pPr marL="0" indent="0" algn="ctr">
              <a:lnSpc>
                <a:spcPts val="1600"/>
              </a:lnSpc>
              <a:buNone/>
            </a:pPr>
            <a:r>
              <a:rPr lang="en-US" sz="1550" dirty="0">
                <a:solidFill>
                  <a:srgbClr val="384653"/>
                </a:solidFill>
                <a:latin typeface="Host Grotesk Medium" pitchFamily="34" charset="0"/>
                <a:ea typeface="Host Grotesk Medium" pitchFamily="34" charset="-122"/>
                <a:cs typeface="Host Grotesk Medium" pitchFamily="34" charset="-120"/>
              </a:rPr>
              <a:t>2</a:t>
            </a:r>
            <a:endParaRPr lang="en-US" sz="1550" dirty="0"/>
          </a:p>
        </p:txBody>
      </p:sp>
      <p:sp>
        <p:nvSpPr>
          <p:cNvPr id="32" name="Text 30"/>
          <p:cNvSpPr/>
          <p:nvPr/>
        </p:nvSpPr>
        <p:spPr>
          <a:xfrm>
            <a:off x="10755749" y="5630763"/>
            <a:ext cx="1714500" cy="214312"/>
          </a:xfrm>
          <a:prstGeom prst="rect">
            <a:avLst/>
          </a:prstGeom>
          <a:noFill/>
          <a:ln/>
        </p:spPr>
        <p:txBody>
          <a:bodyPr wrap="none" lIns="0" tIns="0" rIns="0" bIns="0" rtlCol="0" anchor="t"/>
          <a:lstStyle/>
          <a:p>
            <a:pPr marL="0" indent="0" algn="l">
              <a:lnSpc>
                <a:spcPts val="1650"/>
              </a:lnSpc>
              <a:buNone/>
            </a:pPr>
            <a:r>
              <a:rPr lang="en-US" sz="1550" dirty="0">
                <a:solidFill>
                  <a:srgbClr val="384653"/>
                </a:solidFill>
                <a:latin typeface="Host Grotesk Medium" pitchFamily="34" charset="0"/>
                <a:ea typeface="Host Grotesk Medium" pitchFamily="34" charset="-122"/>
                <a:cs typeface="Host Grotesk Medium" pitchFamily="34" charset="-120"/>
              </a:rPr>
              <a:t>6 months</a:t>
            </a:r>
            <a:endParaRPr lang="en-US" sz="1550" dirty="0"/>
          </a:p>
        </p:txBody>
      </p:sp>
      <p:sp>
        <p:nvSpPr>
          <p:cNvPr id="33" name="Text 31"/>
          <p:cNvSpPr/>
          <p:nvPr/>
        </p:nvSpPr>
        <p:spPr>
          <a:xfrm>
            <a:off x="10755749" y="5982236"/>
            <a:ext cx="2648188" cy="205740"/>
          </a:xfrm>
          <a:prstGeom prst="rect">
            <a:avLst/>
          </a:prstGeom>
          <a:noFill/>
          <a:ln/>
        </p:spPr>
        <p:txBody>
          <a:bodyPr wrap="none" lIns="0" tIns="0" rIns="0" bIns="0" rtlCol="0" anchor="t"/>
          <a:lstStyle/>
          <a:p>
            <a:pPr marL="0" indent="0" algn="l">
              <a:lnSpc>
                <a:spcPts val="1600"/>
              </a:lnSpc>
              <a:buNone/>
            </a:pPr>
            <a:r>
              <a:rPr lang="en-US" sz="1550" dirty="0">
                <a:solidFill>
                  <a:srgbClr val="384653"/>
                </a:solidFill>
                <a:latin typeface="Roboto" pitchFamily="34" charset="0"/>
                <a:ea typeface="Roboto" pitchFamily="34" charset="-122"/>
                <a:cs typeface="Roboto" pitchFamily="34" charset="-120"/>
              </a:rPr>
              <a:t>Process optimization</a:t>
            </a:r>
            <a:endParaRPr lang="en-US" sz="1550" dirty="0"/>
          </a:p>
        </p:txBody>
      </p:sp>
      <p:sp>
        <p:nvSpPr>
          <p:cNvPr id="34" name="Shape 32"/>
          <p:cNvSpPr/>
          <p:nvPr/>
        </p:nvSpPr>
        <p:spPr>
          <a:xfrm>
            <a:off x="9519404" y="6439674"/>
            <a:ext cx="411480" cy="15240"/>
          </a:xfrm>
          <a:prstGeom prst="roundRect">
            <a:avLst>
              <a:gd name="adj" fmla="val 378016"/>
            </a:avLst>
          </a:prstGeom>
          <a:solidFill>
            <a:srgbClr val="BFD3D8"/>
          </a:solidFill>
          <a:ln/>
        </p:spPr>
        <p:txBody>
          <a:bodyPr/>
          <a:lstStyle/>
          <a:p>
            <a:endParaRPr lang="en-IN" sz="1550"/>
          </a:p>
        </p:txBody>
      </p:sp>
      <p:sp>
        <p:nvSpPr>
          <p:cNvPr id="35" name="Shape 33"/>
          <p:cNvSpPr/>
          <p:nvPr/>
        </p:nvSpPr>
        <p:spPr>
          <a:xfrm>
            <a:off x="9915644" y="6292989"/>
            <a:ext cx="308610" cy="308610"/>
          </a:xfrm>
          <a:prstGeom prst="roundRect">
            <a:avLst>
              <a:gd name="adj" fmla="val 18667"/>
            </a:avLst>
          </a:prstGeom>
          <a:solidFill>
            <a:srgbClr val="D9EDF2"/>
          </a:solidFill>
          <a:ln w="7620">
            <a:solidFill>
              <a:srgbClr val="BFD3D8"/>
            </a:solidFill>
            <a:prstDash val="solid"/>
          </a:ln>
        </p:spPr>
        <p:txBody>
          <a:bodyPr/>
          <a:lstStyle/>
          <a:p>
            <a:endParaRPr lang="en-IN" sz="1550"/>
          </a:p>
        </p:txBody>
      </p:sp>
      <p:sp>
        <p:nvSpPr>
          <p:cNvPr id="36" name="Text 34"/>
          <p:cNvSpPr/>
          <p:nvPr/>
        </p:nvSpPr>
        <p:spPr>
          <a:xfrm>
            <a:off x="9967079" y="6318707"/>
            <a:ext cx="205740" cy="257175"/>
          </a:xfrm>
          <a:prstGeom prst="rect">
            <a:avLst/>
          </a:prstGeom>
          <a:noFill/>
          <a:ln/>
        </p:spPr>
        <p:txBody>
          <a:bodyPr wrap="none" lIns="0" tIns="0" rIns="0" bIns="0" rtlCol="0" anchor="t"/>
          <a:lstStyle/>
          <a:p>
            <a:pPr marL="0" indent="0" algn="ctr">
              <a:lnSpc>
                <a:spcPts val="1600"/>
              </a:lnSpc>
              <a:buNone/>
            </a:pPr>
            <a:r>
              <a:rPr lang="en-US" sz="1550" dirty="0">
                <a:solidFill>
                  <a:srgbClr val="384653"/>
                </a:solidFill>
                <a:latin typeface="Host Grotesk Medium" pitchFamily="34" charset="0"/>
                <a:ea typeface="Host Grotesk Medium" pitchFamily="34" charset="-122"/>
                <a:cs typeface="Host Grotesk Medium" pitchFamily="34" charset="-120"/>
              </a:rPr>
              <a:t>3</a:t>
            </a:r>
            <a:endParaRPr lang="en-US" sz="1550" dirty="0"/>
          </a:p>
        </p:txBody>
      </p:sp>
      <p:sp>
        <p:nvSpPr>
          <p:cNvPr id="37" name="Text 35"/>
          <p:cNvSpPr/>
          <p:nvPr/>
        </p:nvSpPr>
        <p:spPr>
          <a:xfrm>
            <a:off x="7669649" y="6340138"/>
            <a:ext cx="1714500" cy="214312"/>
          </a:xfrm>
          <a:prstGeom prst="rect">
            <a:avLst/>
          </a:prstGeom>
          <a:noFill/>
          <a:ln/>
        </p:spPr>
        <p:txBody>
          <a:bodyPr wrap="none" lIns="0" tIns="0" rIns="0" bIns="0" rtlCol="0" anchor="t"/>
          <a:lstStyle/>
          <a:p>
            <a:pPr marL="0" indent="0" algn="r">
              <a:lnSpc>
                <a:spcPts val="1650"/>
              </a:lnSpc>
              <a:buNone/>
            </a:pPr>
            <a:r>
              <a:rPr lang="en-US" sz="1550" dirty="0">
                <a:solidFill>
                  <a:srgbClr val="384653"/>
                </a:solidFill>
                <a:latin typeface="Host Grotesk Medium" pitchFamily="34" charset="0"/>
                <a:ea typeface="Host Grotesk Medium" pitchFamily="34" charset="-122"/>
                <a:cs typeface="Host Grotesk Medium" pitchFamily="34" charset="-120"/>
              </a:rPr>
              <a:t>12 months</a:t>
            </a:r>
            <a:endParaRPr lang="en-US" sz="1550" dirty="0"/>
          </a:p>
        </p:txBody>
      </p:sp>
      <p:sp>
        <p:nvSpPr>
          <p:cNvPr id="38" name="Text 36"/>
          <p:cNvSpPr/>
          <p:nvPr/>
        </p:nvSpPr>
        <p:spPr>
          <a:xfrm>
            <a:off x="6736080" y="6691610"/>
            <a:ext cx="2648069" cy="205740"/>
          </a:xfrm>
          <a:prstGeom prst="rect">
            <a:avLst/>
          </a:prstGeom>
          <a:noFill/>
          <a:ln/>
        </p:spPr>
        <p:txBody>
          <a:bodyPr wrap="none" lIns="0" tIns="0" rIns="0" bIns="0" rtlCol="0" anchor="t"/>
          <a:lstStyle/>
          <a:p>
            <a:pPr marL="0" indent="0" algn="r">
              <a:lnSpc>
                <a:spcPts val="1600"/>
              </a:lnSpc>
              <a:buNone/>
            </a:pPr>
            <a:r>
              <a:rPr lang="en-US" sz="1550" dirty="0">
                <a:solidFill>
                  <a:srgbClr val="384653"/>
                </a:solidFill>
                <a:latin typeface="Roboto" pitchFamily="34" charset="0"/>
                <a:ea typeface="Roboto" pitchFamily="34" charset="-122"/>
                <a:cs typeface="Roboto" pitchFamily="34" charset="-120"/>
              </a:rPr>
              <a:t>Pilot plant setup</a:t>
            </a:r>
            <a:endParaRPr lang="en-US" sz="1550" dirty="0"/>
          </a:p>
        </p:txBody>
      </p:sp>
      <p:sp>
        <p:nvSpPr>
          <p:cNvPr id="39" name="Shape 37"/>
          <p:cNvSpPr/>
          <p:nvPr/>
        </p:nvSpPr>
        <p:spPr>
          <a:xfrm>
            <a:off x="10209014" y="7149048"/>
            <a:ext cx="411480" cy="15240"/>
          </a:xfrm>
          <a:prstGeom prst="roundRect">
            <a:avLst>
              <a:gd name="adj" fmla="val 378016"/>
            </a:avLst>
          </a:prstGeom>
          <a:solidFill>
            <a:srgbClr val="BFD3D8"/>
          </a:solidFill>
          <a:ln/>
        </p:spPr>
        <p:txBody>
          <a:bodyPr/>
          <a:lstStyle/>
          <a:p>
            <a:endParaRPr lang="en-IN" sz="1550"/>
          </a:p>
        </p:txBody>
      </p:sp>
      <p:sp>
        <p:nvSpPr>
          <p:cNvPr id="40" name="Shape 38"/>
          <p:cNvSpPr/>
          <p:nvPr/>
        </p:nvSpPr>
        <p:spPr>
          <a:xfrm>
            <a:off x="9915644" y="7002363"/>
            <a:ext cx="308610" cy="308610"/>
          </a:xfrm>
          <a:prstGeom prst="roundRect">
            <a:avLst>
              <a:gd name="adj" fmla="val 18667"/>
            </a:avLst>
          </a:prstGeom>
          <a:solidFill>
            <a:srgbClr val="D9EDF2"/>
          </a:solidFill>
          <a:ln w="7620">
            <a:solidFill>
              <a:srgbClr val="BFD3D8"/>
            </a:solidFill>
            <a:prstDash val="solid"/>
          </a:ln>
        </p:spPr>
        <p:txBody>
          <a:bodyPr/>
          <a:lstStyle/>
          <a:p>
            <a:endParaRPr lang="en-IN" sz="1550"/>
          </a:p>
        </p:txBody>
      </p:sp>
      <p:sp>
        <p:nvSpPr>
          <p:cNvPr id="41" name="Text 39"/>
          <p:cNvSpPr/>
          <p:nvPr/>
        </p:nvSpPr>
        <p:spPr>
          <a:xfrm>
            <a:off x="9967079" y="7028081"/>
            <a:ext cx="205740" cy="257175"/>
          </a:xfrm>
          <a:prstGeom prst="rect">
            <a:avLst/>
          </a:prstGeom>
          <a:noFill/>
          <a:ln/>
        </p:spPr>
        <p:txBody>
          <a:bodyPr wrap="none" lIns="0" tIns="0" rIns="0" bIns="0" rtlCol="0" anchor="t"/>
          <a:lstStyle/>
          <a:p>
            <a:pPr marL="0" indent="0" algn="ctr">
              <a:lnSpc>
                <a:spcPts val="1600"/>
              </a:lnSpc>
              <a:buNone/>
            </a:pPr>
            <a:r>
              <a:rPr lang="en-US" sz="1550" dirty="0">
                <a:solidFill>
                  <a:srgbClr val="384653"/>
                </a:solidFill>
                <a:latin typeface="Host Grotesk Medium" pitchFamily="34" charset="0"/>
                <a:ea typeface="Host Grotesk Medium" pitchFamily="34" charset="-122"/>
                <a:cs typeface="Host Grotesk Medium" pitchFamily="34" charset="-120"/>
              </a:rPr>
              <a:t>4</a:t>
            </a:r>
            <a:endParaRPr lang="en-US" sz="1550" dirty="0"/>
          </a:p>
        </p:txBody>
      </p:sp>
      <p:sp>
        <p:nvSpPr>
          <p:cNvPr id="42" name="Text 40"/>
          <p:cNvSpPr/>
          <p:nvPr/>
        </p:nvSpPr>
        <p:spPr>
          <a:xfrm>
            <a:off x="10755749" y="7049512"/>
            <a:ext cx="1714500" cy="214312"/>
          </a:xfrm>
          <a:prstGeom prst="rect">
            <a:avLst/>
          </a:prstGeom>
          <a:noFill/>
          <a:ln/>
        </p:spPr>
        <p:txBody>
          <a:bodyPr wrap="none" lIns="0" tIns="0" rIns="0" bIns="0" rtlCol="0" anchor="t"/>
          <a:lstStyle/>
          <a:p>
            <a:pPr marL="0" indent="0" algn="l">
              <a:lnSpc>
                <a:spcPts val="1650"/>
              </a:lnSpc>
              <a:buNone/>
            </a:pPr>
            <a:r>
              <a:rPr lang="en-US" sz="1550" dirty="0">
                <a:solidFill>
                  <a:srgbClr val="384653"/>
                </a:solidFill>
                <a:latin typeface="Host Grotesk Medium" pitchFamily="34" charset="0"/>
                <a:ea typeface="Host Grotesk Medium" pitchFamily="34" charset="-122"/>
                <a:cs typeface="Host Grotesk Medium" pitchFamily="34" charset="-120"/>
              </a:rPr>
              <a:t>24 months</a:t>
            </a:r>
            <a:endParaRPr lang="en-US" sz="1550" dirty="0"/>
          </a:p>
        </p:txBody>
      </p:sp>
      <p:sp>
        <p:nvSpPr>
          <p:cNvPr id="43" name="Text 41"/>
          <p:cNvSpPr/>
          <p:nvPr/>
        </p:nvSpPr>
        <p:spPr>
          <a:xfrm>
            <a:off x="10755749" y="7400985"/>
            <a:ext cx="2648188" cy="205740"/>
          </a:xfrm>
          <a:prstGeom prst="rect">
            <a:avLst/>
          </a:prstGeom>
          <a:noFill/>
          <a:ln/>
        </p:spPr>
        <p:txBody>
          <a:bodyPr wrap="none" lIns="0" tIns="0" rIns="0" bIns="0" rtlCol="0" anchor="t"/>
          <a:lstStyle/>
          <a:p>
            <a:pPr marL="0" indent="0" algn="l">
              <a:lnSpc>
                <a:spcPts val="1600"/>
              </a:lnSpc>
              <a:buNone/>
            </a:pPr>
            <a:r>
              <a:rPr lang="en-US" sz="1550" dirty="0">
                <a:solidFill>
                  <a:srgbClr val="384653"/>
                </a:solidFill>
                <a:latin typeface="Roboto" pitchFamily="34" charset="0"/>
                <a:ea typeface="Roboto" pitchFamily="34" charset="-122"/>
                <a:cs typeface="Roboto" pitchFamily="34" charset="-120"/>
              </a:rPr>
              <a:t>Commercial implementation</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p:nvPr/>
        </p:nvSpPr>
        <p:spPr>
          <a:xfrm>
            <a:off x="751349" y="559008"/>
            <a:ext cx="1509150" cy="419837"/>
          </a:xfrm>
          <a:prstGeom prst="rect">
            <a:avLst/>
          </a:prstGeom>
          <a:noFill/>
          <a:ln/>
        </p:spPr>
        <p:txBody>
          <a:bodyPr wrap="none" lIns="0" tIns="0" rIns="0" bIns="0" rtlCol="0" anchor="t"/>
          <a:lstStyle/>
          <a:p>
            <a:pPr marL="0" indent="0" algn="l">
              <a:lnSpc>
                <a:spcPts val="3100"/>
              </a:lnSpc>
              <a:buNone/>
            </a:pPr>
            <a:r>
              <a:rPr lang="en-US" sz="3600" dirty="0">
                <a:solidFill>
                  <a:srgbClr val="2E3C4E"/>
                </a:solidFill>
                <a:latin typeface="Host Grotesk Medium" pitchFamily="34" charset="0"/>
                <a:ea typeface="Host Grotesk Medium" pitchFamily="34" charset="-122"/>
                <a:cs typeface="Host Grotesk Medium" pitchFamily="34" charset="-120"/>
              </a:rPr>
              <a:t>Impact</a:t>
            </a:r>
            <a:endParaRPr lang="en-US" sz="3600" dirty="0"/>
          </a:p>
        </p:txBody>
      </p:sp>
      <p:sp>
        <p:nvSpPr>
          <p:cNvPr id="4" name="Shape 1"/>
          <p:cNvSpPr/>
          <p:nvPr/>
        </p:nvSpPr>
        <p:spPr>
          <a:xfrm>
            <a:off x="751349" y="1709113"/>
            <a:ext cx="6168995" cy="2103624"/>
          </a:xfrm>
          <a:prstGeom prst="roundRect">
            <a:avLst>
              <a:gd name="adj" fmla="val 21186"/>
            </a:avLst>
          </a:prstGeom>
          <a:solidFill>
            <a:srgbClr val="95CCDA"/>
          </a:solidFill>
          <a:ln w="7620">
            <a:solidFill>
              <a:srgbClr val="7BB2C0"/>
            </a:solidFill>
            <a:prstDash val="solid"/>
          </a:ln>
        </p:spPr>
        <p:txBody>
          <a:bodyPr/>
          <a:lstStyle/>
          <a:p>
            <a:endParaRPr lang="en-IN"/>
          </a:p>
        </p:txBody>
      </p:sp>
      <p:sp>
        <p:nvSpPr>
          <p:cNvPr id="5" name="Text 2"/>
          <p:cNvSpPr/>
          <p:nvPr/>
        </p:nvSpPr>
        <p:spPr>
          <a:xfrm>
            <a:off x="935970" y="1968784"/>
            <a:ext cx="1647230" cy="198358"/>
          </a:xfrm>
          <a:prstGeom prst="rect">
            <a:avLst/>
          </a:prstGeom>
          <a:noFill/>
          <a:ln/>
        </p:spPr>
        <p:txBody>
          <a:bodyPr wrap="none" lIns="0" tIns="0" rIns="0" bIns="0" rtlCol="0" anchor="t"/>
          <a:lstStyle/>
          <a:p>
            <a:pPr marL="0" indent="0" algn="l">
              <a:lnSpc>
                <a:spcPts val="1550"/>
              </a:lnSpc>
              <a:buNone/>
            </a:pPr>
            <a:r>
              <a:rPr lang="en-US" dirty="0">
                <a:solidFill>
                  <a:srgbClr val="000000"/>
                </a:solidFill>
                <a:latin typeface="Host Grotesk Medium" pitchFamily="34" charset="0"/>
                <a:ea typeface="Host Grotesk Medium" pitchFamily="34" charset="-122"/>
                <a:cs typeface="Host Grotesk Medium" pitchFamily="34" charset="-120"/>
              </a:rPr>
              <a:t>Environmental Benefits</a:t>
            </a:r>
            <a:endParaRPr lang="en-US" dirty="0"/>
          </a:p>
        </p:txBody>
      </p:sp>
      <p:sp>
        <p:nvSpPr>
          <p:cNvPr id="6" name="Text 3"/>
          <p:cNvSpPr/>
          <p:nvPr/>
        </p:nvSpPr>
        <p:spPr>
          <a:xfrm>
            <a:off x="1093709" y="2339220"/>
            <a:ext cx="3795117" cy="190381"/>
          </a:xfrm>
          <a:prstGeom prst="rect">
            <a:avLst/>
          </a:prstGeom>
          <a:noFill/>
          <a:ln/>
        </p:spPr>
        <p:txBody>
          <a:bodyPr wrap="none" lIns="0" tIns="0" rIns="0" bIns="0" rtlCol="0" anchor="t"/>
          <a:lstStyle/>
          <a:p>
            <a:pPr marL="342900" indent="-342900" algn="l">
              <a:lnSpc>
                <a:spcPts val="1450"/>
              </a:lnSpc>
              <a:buSzPct val="100000"/>
              <a:buChar char="•"/>
            </a:pPr>
            <a:r>
              <a:rPr lang="en-US" sz="1550" dirty="0">
                <a:solidFill>
                  <a:srgbClr val="000000"/>
                </a:solidFill>
                <a:latin typeface="Roboto" pitchFamily="34" charset="0"/>
                <a:ea typeface="Roboto" pitchFamily="34" charset="-122"/>
                <a:cs typeface="Roboto" pitchFamily="34" charset="-120"/>
              </a:rPr>
              <a:t>Reduction in toxic leachate from landfills</a:t>
            </a:r>
            <a:endParaRPr lang="en-US" sz="1550" dirty="0"/>
          </a:p>
        </p:txBody>
      </p:sp>
      <p:sp>
        <p:nvSpPr>
          <p:cNvPr id="7" name="Text 4"/>
          <p:cNvSpPr/>
          <p:nvPr/>
        </p:nvSpPr>
        <p:spPr>
          <a:xfrm>
            <a:off x="1093709" y="2635224"/>
            <a:ext cx="3795117" cy="190381"/>
          </a:xfrm>
          <a:prstGeom prst="rect">
            <a:avLst/>
          </a:prstGeom>
          <a:noFill/>
          <a:ln/>
        </p:spPr>
        <p:txBody>
          <a:bodyPr wrap="none" lIns="0" tIns="0" rIns="0" bIns="0" rtlCol="0" anchor="t"/>
          <a:lstStyle/>
          <a:p>
            <a:pPr marL="342900" indent="-342900" algn="l">
              <a:lnSpc>
                <a:spcPts val="1450"/>
              </a:lnSpc>
              <a:buSzPct val="100000"/>
              <a:buChar char="•"/>
            </a:pPr>
            <a:r>
              <a:rPr lang="en-US" sz="1550" dirty="0">
                <a:solidFill>
                  <a:srgbClr val="000000"/>
                </a:solidFill>
                <a:latin typeface="Roboto" pitchFamily="34" charset="0"/>
                <a:ea typeface="Roboto" pitchFamily="34" charset="-122"/>
                <a:cs typeface="Roboto" pitchFamily="34" charset="-120"/>
              </a:rPr>
              <a:t>Lower carbon footprint compared to traditional methods</a:t>
            </a:r>
            <a:endParaRPr lang="en-US" sz="1550" dirty="0"/>
          </a:p>
        </p:txBody>
      </p:sp>
      <p:sp>
        <p:nvSpPr>
          <p:cNvPr id="8" name="Text 5"/>
          <p:cNvSpPr/>
          <p:nvPr/>
        </p:nvSpPr>
        <p:spPr>
          <a:xfrm>
            <a:off x="1091448" y="2952774"/>
            <a:ext cx="3795117" cy="190381"/>
          </a:xfrm>
          <a:prstGeom prst="rect">
            <a:avLst/>
          </a:prstGeom>
          <a:noFill/>
          <a:ln/>
        </p:spPr>
        <p:txBody>
          <a:bodyPr wrap="none" lIns="0" tIns="0" rIns="0" bIns="0" rtlCol="0" anchor="t"/>
          <a:lstStyle/>
          <a:p>
            <a:pPr marL="342900" indent="-342900" algn="l">
              <a:lnSpc>
                <a:spcPts val="1450"/>
              </a:lnSpc>
              <a:buSzPct val="100000"/>
              <a:buChar char="•"/>
            </a:pPr>
            <a:r>
              <a:rPr lang="en-US" sz="1550" dirty="0">
                <a:solidFill>
                  <a:srgbClr val="000000"/>
                </a:solidFill>
                <a:latin typeface="Roboto" pitchFamily="34" charset="0"/>
                <a:ea typeface="Roboto" pitchFamily="34" charset="-122"/>
                <a:cs typeface="Roboto" pitchFamily="34" charset="-120"/>
              </a:rPr>
              <a:t>Conservation of natural resources</a:t>
            </a:r>
            <a:endParaRPr lang="en-US" sz="1550" dirty="0"/>
          </a:p>
        </p:txBody>
      </p:sp>
      <p:sp>
        <p:nvSpPr>
          <p:cNvPr id="9" name="Text 6"/>
          <p:cNvSpPr/>
          <p:nvPr/>
        </p:nvSpPr>
        <p:spPr>
          <a:xfrm>
            <a:off x="1093709" y="3252927"/>
            <a:ext cx="3795117" cy="190381"/>
          </a:xfrm>
          <a:prstGeom prst="rect">
            <a:avLst/>
          </a:prstGeom>
          <a:noFill/>
          <a:ln/>
        </p:spPr>
        <p:txBody>
          <a:bodyPr wrap="none" lIns="0" tIns="0" rIns="0" bIns="0" rtlCol="0" anchor="t"/>
          <a:lstStyle/>
          <a:p>
            <a:pPr marL="342900" indent="-342900" algn="l">
              <a:lnSpc>
                <a:spcPts val="1450"/>
              </a:lnSpc>
              <a:buSzPct val="100000"/>
              <a:buChar char="•"/>
            </a:pPr>
            <a:r>
              <a:rPr lang="en-US" sz="1550" dirty="0">
                <a:solidFill>
                  <a:srgbClr val="000000"/>
                </a:solidFill>
                <a:latin typeface="Roboto" pitchFamily="34" charset="0"/>
                <a:ea typeface="Roboto" pitchFamily="34" charset="-122"/>
                <a:cs typeface="Roboto" pitchFamily="34" charset="-120"/>
              </a:rPr>
              <a:t>Decreased mining-related environmental damage</a:t>
            </a:r>
            <a:endParaRPr lang="en-US" sz="1550" dirty="0"/>
          </a:p>
        </p:txBody>
      </p:sp>
      <p:sp>
        <p:nvSpPr>
          <p:cNvPr id="10" name="Shape 7"/>
          <p:cNvSpPr/>
          <p:nvPr/>
        </p:nvSpPr>
        <p:spPr>
          <a:xfrm>
            <a:off x="7710056" y="1690997"/>
            <a:ext cx="6168995" cy="2103624"/>
          </a:xfrm>
          <a:prstGeom prst="roundRect">
            <a:avLst>
              <a:gd name="adj" fmla="val 21186"/>
            </a:avLst>
          </a:prstGeom>
          <a:solidFill>
            <a:srgbClr val="95CCDA"/>
          </a:solidFill>
          <a:ln w="7620">
            <a:solidFill>
              <a:srgbClr val="7BB2C0"/>
            </a:solidFill>
            <a:prstDash val="solid"/>
          </a:ln>
        </p:spPr>
        <p:txBody>
          <a:bodyPr/>
          <a:lstStyle/>
          <a:p>
            <a:endParaRPr lang="en-IN"/>
          </a:p>
        </p:txBody>
      </p:sp>
      <p:sp>
        <p:nvSpPr>
          <p:cNvPr id="11" name="Text 8"/>
          <p:cNvSpPr/>
          <p:nvPr/>
        </p:nvSpPr>
        <p:spPr>
          <a:xfrm>
            <a:off x="7894677" y="1950668"/>
            <a:ext cx="1586984" cy="198358"/>
          </a:xfrm>
          <a:prstGeom prst="rect">
            <a:avLst/>
          </a:prstGeom>
          <a:noFill/>
          <a:ln/>
        </p:spPr>
        <p:txBody>
          <a:bodyPr wrap="none" lIns="0" tIns="0" rIns="0" bIns="0" rtlCol="0" anchor="t"/>
          <a:lstStyle/>
          <a:p>
            <a:pPr marL="0" indent="0" algn="l">
              <a:lnSpc>
                <a:spcPts val="1550"/>
              </a:lnSpc>
              <a:buNone/>
            </a:pPr>
            <a:r>
              <a:rPr lang="en-US" dirty="0">
                <a:solidFill>
                  <a:srgbClr val="000000"/>
                </a:solidFill>
                <a:latin typeface="Host Grotesk Medium" pitchFamily="34" charset="0"/>
                <a:ea typeface="Host Grotesk Medium" pitchFamily="34" charset="-122"/>
                <a:cs typeface="Host Grotesk Medium" pitchFamily="34" charset="-120"/>
              </a:rPr>
              <a:t>Economic Benefits</a:t>
            </a:r>
            <a:endParaRPr lang="en-US" dirty="0"/>
          </a:p>
        </p:txBody>
      </p:sp>
      <p:sp>
        <p:nvSpPr>
          <p:cNvPr id="12" name="Text 9"/>
          <p:cNvSpPr/>
          <p:nvPr/>
        </p:nvSpPr>
        <p:spPr>
          <a:xfrm>
            <a:off x="8052416" y="2321104"/>
            <a:ext cx="3795117" cy="190381"/>
          </a:xfrm>
          <a:prstGeom prst="rect">
            <a:avLst/>
          </a:prstGeom>
          <a:noFill/>
          <a:ln/>
        </p:spPr>
        <p:txBody>
          <a:bodyPr wrap="none" lIns="0" tIns="0" rIns="0" bIns="0" rtlCol="0" anchor="t"/>
          <a:lstStyle/>
          <a:p>
            <a:pPr marL="342900" indent="-342900" algn="l">
              <a:lnSpc>
                <a:spcPts val="1450"/>
              </a:lnSpc>
              <a:buSzPct val="100000"/>
              <a:buChar char="•"/>
            </a:pPr>
            <a:r>
              <a:rPr lang="en-US" sz="1550" dirty="0">
                <a:solidFill>
                  <a:srgbClr val="000000"/>
                </a:solidFill>
                <a:latin typeface="Roboto" pitchFamily="34" charset="0"/>
                <a:ea typeface="Roboto" pitchFamily="34" charset="-122"/>
                <a:cs typeface="Roboto" pitchFamily="34" charset="-120"/>
              </a:rPr>
              <a:t>Recovery of valuable metals worth billions</a:t>
            </a:r>
            <a:endParaRPr lang="en-US" sz="1550" dirty="0"/>
          </a:p>
        </p:txBody>
      </p:sp>
      <p:sp>
        <p:nvSpPr>
          <p:cNvPr id="13" name="Text 10"/>
          <p:cNvSpPr/>
          <p:nvPr/>
        </p:nvSpPr>
        <p:spPr>
          <a:xfrm>
            <a:off x="8052416" y="2617108"/>
            <a:ext cx="3795117" cy="190381"/>
          </a:xfrm>
          <a:prstGeom prst="rect">
            <a:avLst/>
          </a:prstGeom>
          <a:noFill/>
          <a:ln/>
        </p:spPr>
        <p:txBody>
          <a:bodyPr wrap="none" lIns="0" tIns="0" rIns="0" bIns="0" rtlCol="0" anchor="t"/>
          <a:lstStyle/>
          <a:p>
            <a:pPr marL="342900" indent="-342900" algn="l">
              <a:lnSpc>
                <a:spcPts val="1450"/>
              </a:lnSpc>
              <a:buSzPct val="100000"/>
              <a:buChar char="•"/>
            </a:pPr>
            <a:r>
              <a:rPr lang="en-US" sz="1550" dirty="0">
                <a:solidFill>
                  <a:srgbClr val="000000"/>
                </a:solidFill>
                <a:latin typeface="Roboto" pitchFamily="34" charset="0"/>
                <a:ea typeface="Roboto" pitchFamily="34" charset="-122"/>
                <a:cs typeface="Roboto" pitchFamily="34" charset="-120"/>
              </a:rPr>
              <a:t>Job creation in green technology sector</a:t>
            </a:r>
            <a:endParaRPr lang="en-US" sz="1550" dirty="0"/>
          </a:p>
        </p:txBody>
      </p:sp>
      <p:sp>
        <p:nvSpPr>
          <p:cNvPr id="14" name="Text 11"/>
          <p:cNvSpPr/>
          <p:nvPr/>
        </p:nvSpPr>
        <p:spPr>
          <a:xfrm>
            <a:off x="8050155" y="2934658"/>
            <a:ext cx="3795117" cy="190381"/>
          </a:xfrm>
          <a:prstGeom prst="rect">
            <a:avLst/>
          </a:prstGeom>
          <a:noFill/>
          <a:ln/>
        </p:spPr>
        <p:txBody>
          <a:bodyPr wrap="none" lIns="0" tIns="0" rIns="0" bIns="0" rtlCol="0" anchor="t"/>
          <a:lstStyle/>
          <a:p>
            <a:pPr marL="342900" indent="-342900" algn="l">
              <a:lnSpc>
                <a:spcPts val="1450"/>
              </a:lnSpc>
              <a:buSzPct val="100000"/>
              <a:buChar char="•"/>
            </a:pPr>
            <a:r>
              <a:rPr lang="en-US" sz="1550" dirty="0">
                <a:solidFill>
                  <a:srgbClr val="000000"/>
                </a:solidFill>
                <a:latin typeface="Roboto" pitchFamily="34" charset="0"/>
                <a:ea typeface="Roboto" pitchFamily="34" charset="-122"/>
                <a:cs typeface="Roboto" pitchFamily="34" charset="-120"/>
              </a:rPr>
              <a:t>Reduced dependency on mining</a:t>
            </a:r>
            <a:endParaRPr lang="en-US" sz="1550" dirty="0"/>
          </a:p>
        </p:txBody>
      </p:sp>
      <p:sp>
        <p:nvSpPr>
          <p:cNvPr id="15" name="Text 12"/>
          <p:cNvSpPr/>
          <p:nvPr/>
        </p:nvSpPr>
        <p:spPr>
          <a:xfrm>
            <a:off x="8052416" y="3234811"/>
            <a:ext cx="3795117" cy="190381"/>
          </a:xfrm>
          <a:prstGeom prst="rect">
            <a:avLst/>
          </a:prstGeom>
          <a:noFill/>
          <a:ln/>
        </p:spPr>
        <p:txBody>
          <a:bodyPr wrap="none" lIns="0" tIns="0" rIns="0" bIns="0" rtlCol="0" anchor="t"/>
          <a:lstStyle/>
          <a:p>
            <a:pPr marL="342900" indent="-342900" algn="l">
              <a:lnSpc>
                <a:spcPts val="1450"/>
              </a:lnSpc>
              <a:buSzPct val="100000"/>
              <a:buChar char="•"/>
            </a:pPr>
            <a:r>
              <a:rPr lang="en-US" sz="1550" dirty="0">
                <a:solidFill>
                  <a:srgbClr val="000000"/>
                </a:solidFill>
                <a:latin typeface="Roboto" pitchFamily="34" charset="0"/>
                <a:ea typeface="Roboto" pitchFamily="34" charset="-122"/>
                <a:cs typeface="Roboto" pitchFamily="34" charset="-120"/>
              </a:rPr>
              <a:t>New revenue streams from waste</a:t>
            </a:r>
            <a:endParaRPr lang="en-US" sz="1550" dirty="0"/>
          </a:p>
        </p:txBody>
      </p:sp>
      <p:sp>
        <p:nvSpPr>
          <p:cNvPr id="16" name="Shape 13"/>
          <p:cNvSpPr/>
          <p:nvPr/>
        </p:nvSpPr>
        <p:spPr>
          <a:xfrm>
            <a:off x="3582380" y="4598369"/>
            <a:ext cx="7881277" cy="1997986"/>
          </a:xfrm>
          <a:prstGeom prst="roundRect">
            <a:avLst>
              <a:gd name="adj" fmla="val 21186"/>
            </a:avLst>
          </a:prstGeom>
          <a:solidFill>
            <a:srgbClr val="95CCDA"/>
          </a:solidFill>
          <a:ln w="7620">
            <a:solidFill>
              <a:srgbClr val="7BB2C0"/>
            </a:solidFill>
            <a:prstDash val="solid"/>
          </a:ln>
        </p:spPr>
        <p:txBody>
          <a:bodyPr/>
          <a:lstStyle/>
          <a:p>
            <a:endParaRPr lang="en-IN"/>
          </a:p>
        </p:txBody>
      </p:sp>
      <p:sp>
        <p:nvSpPr>
          <p:cNvPr id="17" name="Text 14"/>
          <p:cNvSpPr/>
          <p:nvPr/>
        </p:nvSpPr>
        <p:spPr>
          <a:xfrm>
            <a:off x="3835846" y="4889839"/>
            <a:ext cx="1586984" cy="198358"/>
          </a:xfrm>
          <a:prstGeom prst="rect">
            <a:avLst/>
          </a:prstGeom>
          <a:noFill/>
          <a:ln/>
        </p:spPr>
        <p:txBody>
          <a:bodyPr wrap="none" lIns="0" tIns="0" rIns="0" bIns="0" rtlCol="0" anchor="t"/>
          <a:lstStyle/>
          <a:p>
            <a:pPr marL="0" indent="0" algn="l">
              <a:lnSpc>
                <a:spcPts val="1550"/>
              </a:lnSpc>
              <a:buNone/>
            </a:pPr>
            <a:r>
              <a:rPr lang="en-US" dirty="0">
                <a:solidFill>
                  <a:srgbClr val="000000"/>
                </a:solidFill>
                <a:latin typeface="Host Grotesk Medium" pitchFamily="34" charset="0"/>
                <a:ea typeface="Host Grotesk Medium" pitchFamily="34" charset="-122"/>
                <a:cs typeface="Host Grotesk Medium" pitchFamily="34" charset="-120"/>
              </a:rPr>
              <a:t>Social Benefits</a:t>
            </a:r>
            <a:endParaRPr lang="en-US" dirty="0"/>
          </a:p>
        </p:txBody>
      </p:sp>
      <p:sp>
        <p:nvSpPr>
          <p:cNvPr id="18" name="Text 15"/>
          <p:cNvSpPr/>
          <p:nvPr/>
        </p:nvSpPr>
        <p:spPr>
          <a:xfrm>
            <a:off x="4110361" y="5203829"/>
            <a:ext cx="7986236" cy="190381"/>
          </a:xfrm>
          <a:prstGeom prst="rect">
            <a:avLst/>
          </a:prstGeom>
          <a:noFill/>
          <a:ln/>
        </p:spPr>
        <p:txBody>
          <a:bodyPr wrap="none" lIns="0" tIns="0" rIns="0" bIns="0" rtlCol="0" anchor="t"/>
          <a:lstStyle/>
          <a:p>
            <a:pPr marL="342900" indent="-342900" algn="l">
              <a:lnSpc>
                <a:spcPts val="1450"/>
              </a:lnSpc>
              <a:buSzPct val="100000"/>
              <a:buChar char="•"/>
            </a:pPr>
            <a:r>
              <a:rPr lang="en-US" sz="1550" dirty="0">
                <a:solidFill>
                  <a:srgbClr val="000000"/>
                </a:solidFill>
                <a:latin typeface="Roboto" pitchFamily="34" charset="0"/>
                <a:ea typeface="Roboto" pitchFamily="34" charset="-122"/>
                <a:cs typeface="Roboto" pitchFamily="34" charset="-120"/>
              </a:rPr>
              <a:t>Improved health outcomes in communities near e-waste sites</a:t>
            </a:r>
            <a:endParaRPr lang="en-US" sz="1550" dirty="0"/>
          </a:p>
        </p:txBody>
      </p:sp>
      <p:sp>
        <p:nvSpPr>
          <p:cNvPr id="19" name="Text 16"/>
          <p:cNvSpPr/>
          <p:nvPr/>
        </p:nvSpPr>
        <p:spPr>
          <a:xfrm>
            <a:off x="4110361" y="5504672"/>
            <a:ext cx="7986236" cy="190381"/>
          </a:xfrm>
          <a:prstGeom prst="rect">
            <a:avLst/>
          </a:prstGeom>
          <a:noFill/>
          <a:ln/>
        </p:spPr>
        <p:txBody>
          <a:bodyPr wrap="none" lIns="0" tIns="0" rIns="0" bIns="0" rtlCol="0" anchor="t"/>
          <a:lstStyle/>
          <a:p>
            <a:pPr marL="342900" indent="-342900" algn="l">
              <a:lnSpc>
                <a:spcPts val="1450"/>
              </a:lnSpc>
              <a:buSzPct val="100000"/>
              <a:buChar char="•"/>
            </a:pPr>
            <a:r>
              <a:rPr lang="en-US" sz="1550" dirty="0">
                <a:solidFill>
                  <a:srgbClr val="000000"/>
                </a:solidFill>
                <a:latin typeface="Roboto" pitchFamily="34" charset="0"/>
                <a:ea typeface="Roboto" pitchFamily="34" charset="-122"/>
                <a:cs typeface="Roboto" pitchFamily="34" charset="-120"/>
              </a:rPr>
              <a:t>Technology transfer opportunities</a:t>
            </a:r>
            <a:endParaRPr lang="en-US" sz="1550" dirty="0"/>
          </a:p>
        </p:txBody>
      </p:sp>
      <p:sp>
        <p:nvSpPr>
          <p:cNvPr id="20" name="Text 17"/>
          <p:cNvSpPr/>
          <p:nvPr/>
        </p:nvSpPr>
        <p:spPr>
          <a:xfrm>
            <a:off x="4110361" y="5810685"/>
            <a:ext cx="7986236" cy="190381"/>
          </a:xfrm>
          <a:prstGeom prst="rect">
            <a:avLst/>
          </a:prstGeom>
          <a:noFill/>
          <a:ln/>
        </p:spPr>
        <p:txBody>
          <a:bodyPr wrap="none" lIns="0" tIns="0" rIns="0" bIns="0" rtlCol="0" anchor="t"/>
          <a:lstStyle/>
          <a:p>
            <a:pPr marL="342900" indent="-342900" algn="l">
              <a:lnSpc>
                <a:spcPts val="1450"/>
              </a:lnSpc>
              <a:buSzPct val="100000"/>
              <a:buChar char="•"/>
            </a:pPr>
            <a:r>
              <a:rPr lang="en-US" sz="1550" dirty="0">
                <a:solidFill>
                  <a:srgbClr val="000000"/>
                </a:solidFill>
                <a:latin typeface="Roboto" pitchFamily="34" charset="0"/>
                <a:ea typeface="Roboto" pitchFamily="34" charset="-122"/>
                <a:cs typeface="Roboto" pitchFamily="34" charset="-120"/>
              </a:rPr>
              <a:t>Educational opportunities in biotechnology</a:t>
            </a:r>
            <a:endParaRPr lang="en-US" sz="1550" dirty="0"/>
          </a:p>
        </p:txBody>
      </p:sp>
      <p:sp>
        <p:nvSpPr>
          <p:cNvPr id="21" name="Text 18"/>
          <p:cNvSpPr/>
          <p:nvPr/>
        </p:nvSpPr>
        <p:spPr>
          <a:xfrm>
            <a:off x="4110361" y="6120699"/>
            <a:ext cx="7986236" cy="190381"/>
          </a:xfrm>
          <a:prstGeom prst="rect">
            <a:avLst/>
          </a:prstGeom>
          <a:noFill/>
          <a:ln/>
        </p:spPr>
        <p:txBody>
          <a:bodyPr wrap="none" lIns="0" tIns="0" rIns="0" bIns="0" rtlCol="0" anchor="t"/>
          <a:lstStyle/>
          <a:p>
            <a:pPr marL="342900" indent="-342900" algn="l">
              <a:lnSpc>
                <a:spcPts val="1450"/>
              </a:lnSpc>
              <a:buSzPct val="100000"/>
              <a:buChar char="•"/>
            </a:pPr>
            <a:r>
              <a:rPr lang="en-US" sz="1550" dirty="0">
                <a:solidFill>
                  <a:srgbClr val="000000"/>
                </a:solidFill>
                <a:latin typeface="Roboto" pitchFamily="34" charset="0"/>
                <a:ea typeface="Roboto" pitchFamily="34" charset="-122"/>
                <a:cs typeface="Roboto" pitchFamily="34" charset="-120"/>
              </a:rPr>
              <a:t>Sustainable development model</a:t>
            </a:r>
            <a:endParaRPr lang="en-US" sz="1550" dirty="0"/>
          </a:p>
        </p:txBody>
      </p:sp>
      <p:sp>
        <p:nvSpPr>
          <p:cNvPr id="23" name="Shape 19"/>
          <p:cNvSpPr/>
          <p:nvPr/>
        </p:nvSpPr>
        <p:spPr>
          <a:xfrm>
            <a:off x="5930741" y="8578453"/>
            <a:ext cx="126921" cy="126921"/>
          </a:xfrm>
          <a:prstGeom prst="roundRect">
            <a:avLst>
              <a:gd name="adj" fmla="val 14409"/>
            </a:avLst>
          </a:prstGeom>
          <a:solidFill>
            <a:srgbClr val="143139"/>
          </a:solidFill>
          <a:ln/>
        </p:spPr>
        <p:txBody>
          <a:bodyPr/>
          <a:lstStyle/>
          <a:p>
            <a:endParaRPr lang="en-IN"/>
          </a:p>
        </p:txBody>
      </p:sp>
      <p:sp>
        <p:nvSpPr>
          <p:cNvPr id="24" name="Text 20"/>
          <p:cNvSpPr/>
          <p:nvPr/>
        </p:nvSpPr>
        <p:spPr>
          <a:xfrm>
            <a:off x="6118622" y="8578453"/>
            <a:ext cx="261342" cy="126921"/>
          </a:xfrm>
          <a:prstGeom prst="rect">
            <a:avLst/>
          </a:prstGeom>
          <a:noFill/>
          <a:ln/>
        </p:spPr>
        <p:txBody>
          <a:bodyPr wrap="none" lIns="0" tIns="0" rIns="0" bIns="0" rtlCol="0" anchor="t"/>
          <a:lstStyle/>
          <a:p>
            <a:pPr marL="0" indent="0" algn="l">
              <a:lnSpc>
                <a:spcPts val="950"/>
              </a:lnSpc>
              <a:buNone/>
            </a:pPr>
            <a:r>
              <a:rPr lang="en-US" sz="950" dirty="0">
                <a:solidFill>
                  <a:srgbClr val="384653"/>
                </a:solidFill>
                <a:latin typeface="Roboto" pitchFamily="34" charset="0"/>
                <a:ea typeface="Roboto" pitchFamily="34" charset="-122"/>
                <a:cs typeface="Roboto" pitchFamily="34" charset="-120"/>
              </a:rPr>
              <a:t>Gold</a:t>
            </a:r>
            <a:endParaRPr lang="en-US" sz="950" dirty="0"/>
          </a:p>
        </p:txBody>
      </p:sp>
      <p:sp>
        <p:nvSpPr>
          <p:cNvPr id="25" name="Shape 21"/>
          <p:cNvSpPr/>
          <p:nvPr/>
        </p:nvSpPr>
        <p:spPr>
          <a:xfrm>
            <a:off x="7612261" y="8578453"/>
            <a:ext cx="126921" cy="126921"/>
          </a:xfrm>
          <a:prstGeom prst="roundRect">
            <a:avLst>
              <a:gd name="adj" fmla="val 14409"/>
            </a:avLst>
          </a:prstGeom>
          <a:solidFill>
            <a:srgbClr val="265E6C"/>
          </a:solidFill>
          <a:ln/>
        </p:spPr>
        <p:txBody>
          <a:bodyPr/>
          <a:lstStyle/>
          <a:p>
            <a:endParaRPr lang="en-IN"/>
          </a:p>
        </p:txBody>
      </p:sp>
      <p:sp>
        <p:nvSpPr>
          <p:cNvPr id="26" name="Text 22"/>
          <p:cNvSpPr/>
          <p:nvPr/>
        </p:nvSpPr>
        <p:spPr>
          <a:xfrm>
            <a:off x="7800142" y="8578453"/>
            <a:ext cx="308134" cy="126921"/>
          </a:xfrm>
          <a:prstGeom prst="rect">
            <a:avLst/>
          </a:prstGeom>
          <a:noFill/>
          <a:ln/>
        </p:spPr>
        <p:txBody>
          <a:bodyPr wrap="none" lIns="0" tIns="0" rIns="0" bIns="0" rtlCol="0" anchor="t"/>
          <a:lstStyle/>
          <a:p>
            <a:pPr marL="0" indent="0" algn="l">
              <a:lnSpc>
                <a:spcPts val="950"/>
              </a:lnSpc>
              <a:buNone/>
            </a:pPr>
            <a:r>
              <a:rPr lang="en-US" sz="950" dirty="0">
                <a:solidFill>
                  <a:srgbClr val="384653"/>
                </a:solidFill>
                <a:latin typeface="Roboto" pitchFamily="34" charset="0"/>
                <a:ea typeface="Roboto" pitchFamily="34" charset="-122"/>
                <a:cs typeface="Roboto" pitchFamily="34" charset="-120"/>
              </a:rPr>
              <a:t>Silver</a:t>
            </a:r>
            <a:endParaRPr lang="en-US" sz="950" dirty="0"/>
          </a:p>
        </p:txBody>
      </p:sp>
      <p:sp>
        <p:nvSpPr>
          <p:cNvPr id="27" name="Shape 23"/>
          <p:cNvSpPr/>
          <p:nvPr/>
        </p:nvSpPr>
        <p:spPr>
          <a:xfrm>
            <a:off x="9293781" y="8578453"/>
            <a:ext cx="126921" cy="126921"/>
          </a:xfrm>
          <a:prstGeom prst="roundRect">
            <a:avLst>
              <a:gd name="adj" fmla="val 14409"/>
            </a:avLst>
          </a:prstGeom>
          <a:solidFill>
            <a:srgbClr val="388AA0"/>
          </a:solidFill>
          <a:ln/>
        </p:spPr>
        <p:txBody>
          <a:bodyPr/>
          <a:lstStyle/>
          <a:p>
            <a:endParaRPr lang="en-IN"/>
          </a:p>
        </p:txBody>
      </p:sp>
      <p:sp>
        <p:nvSpPr>
          <p:cNvPr id="28" name="Text 24"/>
          <p:cNvSpPr/>
          <p:nvPr/>
        </p:nvSpPr>
        <p:spPr>
          <a:xfrm>
            <a:off x="9481661" y="8578453"/>
            <a:ext cx="407908" cy="126921"/>
          </a:xfrm>
          <a:prstGeom prst="rect">
            <a:avLst/>
          </a:prstGeom>
          <a:noFill/>
          <a:ln/>
        </p:spPr>
        <p:txBody>
          <a:bodyPr wrap="none" lIns="0" tIns="0" rIns="0" bIns="0" rtlCol="0" anchor="t"/>
          <a:lstStyle/>
          <a:p>
            <a:pPr marL="0" indent="0" algn="l">
              <a:lnSpc>
                <a:spcPts val="950"/>
              </a:lnSpc>
              <a:buNone/>
            </a:pPr>
            <a:r>
              <a:rPr lang="en-US" sz="950" dirty="0">
                <a:solidFill>
                  <a:srgbClr val="384653"/>
                </a:solidFill>
                <a:latin typeface="Roboto" pitchFamily="34" charset="0"/>
                <a:ea typeface="Roboto" pitchFamily="34" charset="-122"/>
                <a:cs typeface="Roboto" pitchFamily="34" charset="-120"/>
              </a:rPr>
              <a:t>Copper</a:t>
            </a:r>
            <a:endParaRPr lang="en-US" sz="950" dirty="0"/>
          </a:p>
        </p:txBody>
      </p:sp>
      <p:sp>
        <p:nvSpPr>
          <p:cNvPr id="29" name="Shape 25"/>
          <p:cNvSpPr/>
          <p:nvPr/>
        </p:nvSpPr>
        <p:spPr>
          <a:xfrm>
            <a:off x="10975300" y="8578453"/>
            <a:ext cx="126921" cy="126921"/>
          </a:xfrm>
          <a:prstGeom prst="roundRect">
            <a:avLst>
              <a:gd name="adj" fmla="val 14409"/>
            </a:avLst>
          </a:prstGeom>
          <a:solidFill>
            <a:srgbClr val="58AFC5"/>
          </a:solidFill>
          <a:ln/>
        </p:spPr>
        <p:txBody>
          <a:bodyPr/>
          <a:lstStyle/>
          <a:p>
            <a:endParaRPr lang="en-IN"/>
          </a:p>
        </p:txBody>
      </p:sp>
      <p:sp>
        <p:nvSpPr>
          <p:cNvPr id="30" name="Text 26"/>
          <p:cNvSpPr/>
          <p:nvPr/>
        </p:nvSpPr>
        <p:spPr>
          <a:xfrm>
            <a:off x="11163181" y="8578453"/>
            <a:ext cx="562928" cy="126921"/>
          </a:xfrm>
          <a:prstGeom prst="rect">
            <a:avLst/>
          </a:prstGeom>
          <a:noFill/>
          <a:ln/>
        </p:spPr>
        <p:txBody>
          <a:bodyPr wrap="none" lIns="0" tIns="0" rIns="0" bIns="0" rtlCol="0" anchor="t"/>
          <a:lstStyle/>
          <a:p>
            <a:pPr marL="0" indent="0" algn="l">
              <a:lnSpc>
                <a:spcPts val="950"/>
              </a:lnSpc>
              <a:buNone/>
            </a:pPr>
            <a:r>
              <a:rPr lang="en-US" sz="950" dirty="0">
                <a:solidFill>
                  <a:srgbClr val="384653"/>
                </a:solidFill>
                <a:latin typeface="Roboto" pitchFamily="34" charset="0"/>
                <a:ea typeface="Roboto" pitchFamily="34" charset="-122"/>
                <a:cs typeface="Roboto" pitchFamily="34" charset="-120"/>
              </a:rPr>
              <a:t>Palladium</a:t>
            </a:r>
            <a:endParaRPr lang="en-US" sz="950" dirty="0"/>
          </a:p>
        </p:txBody>
      </p:sp>
      <p:sp>
        <p:nvSpPr>
          <p:cNvPr id="31" name="Shape 27"/>
          <p:cNvSpPr/>
          <p:nvPr/>
        </p:nvSpPr>
        <p:spPr>
          <a:xfrm>
            <a:off x="12656820" y="8578453"/>
            <a:ext cx="126921" cy="126921"/>
          </a:xfrm>
          <a:prstGeom prst="roundRect">
            <a:avLst>
              <a:gd name="adj" fmla="val 14409"/>
            </a:avLst>
          </a:prstGeom>
          <a:solidFill>
            <a:srgbClr val="8BC7D7"/>
          </a:solidFill>
          <a:ln/>
        </p:spPr>
        <p:txBody>
          <a:bodyPr/>
          <a:lstStyle/>
          <a:p>
            <a:endParaRPr lang="en-IN"/>
          </a:p>
        </p:txBody>
      </p:sp>
      <p:sp>
        <p:nvSpPr>
          <p:cNvPr id="32" name="Text 28"/>
          <p:cNvSpPr/>
          <p:nvPr/>
        </p:nvSpPr>
        <p:spPr>
          <a:xfrm>
            <a:off x="12844701" y="8578453"/>
            <a:ext cx="503753" cy="126921"/>
          </a:xfrm>
          <a:prstGeom prst="rect">
            <a:avLst/>
          </a:prstGeom>
          <a:noFill/>
          <a:ln/>
        </p:spPr>
        <p:txBody>
          <a:bodyPr wrap="none" lIns="0" tIns="0" rIns="0" bIns="0" rtlCol="0" anchor="t"/>
          <a:lstStyle/>
          <a:p>
            <a:pPr marL="0" indent="0" algn="l">
              <a:lnSpc>
                <a:spcPts val="950"/>
              </a:lnSpc>
              <a:buNone/>
            </a:pPr>
            <a:r>
              <a:rPr lang="en-US" sz="950" dirty="0">
                <a:solidFill>
                  <a:srgbClr val="384653"/>
                </a:solidFill>
                <a:latin typeface="Roboto" pitchFamily="34" charset="0"/>
                <a:ea typeface="Roboto" pitchFamily="34" charset="-122"/>
                <a:cs typeface="Roboto" pitchFamily="34" charset="-120"/>
              </a:rPr>
              <a:t>Platinum</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2914" y="1004368"/>
            <a:ext cx="4166116" cy="404336"/>
          </a:xfrm>
          <a:prstGeom prst="rect">
            <a:avLst/>
          </a:prstGeom>
          <a:noFill/>
          <a:ln/>
        </p:spPr>
        <p:txBody>
          <a:bodyPr wrap="none" lIns="0" tIns="0" rIns="0" bIns="0" rtlCol="0" anchor="t"/>
          <a:lstStyle/>
          <a:p>
            <a:pPr marL="0" indent="0" algn="l">
              <a:lnSpc>
                <a:spcPts val="3150"/>
              </a:lnSpc>
              <a:buNone/>
            </a:pPr>
            <a:r>
              <a:rPr lang="en-US" sz="2500" dirty="0">
                <a:solidFill>
                  <a:srgbClr val="2E3C4E"/>
                </a:solidFill>
                <a:latin typeface="Host Grotesk Medium" pitchFamily="34" charset="0"/>
                <a:ea typeface="Host Grotesk Medium" pitchFamily="34" charset="-122"/>
                <a:cs typeface="Host Grotesk Medium" pitchFamily="34" charset="-120"/>
              </a:rPr>
              <a:t>Potential Challenges &amp; Risks</a:t>
            </a:r>
            <a:endParaRPr lang="en-US" sz="2500" dirty="0"/>
          </a:p>
        </p:txBody>
      </p:sp>
      <p:pic>
        <p:nvPicPr>
          <p:cNvPr id="45" name="Picture 44" descr="A diagram of a diagram of a microbial production&#10;&#10;AI-generated content may be incorrect.">
            <a:extLst>
              <a:ext uri="{FF2B5EF4-FFF2-40B4-BE49-F238E27FC236}">
                <a16:creationId xmlns:a16="http://schemas.microsoft.com/office/drawing/2014/main" id="{F4923F99-F7CC-A883-376C-1B7C13DA95AD}"/>
              </a:ext>
            </a:extLst>
          </p:cNvPr>
          <p:cNvPicPr>
            <a:picLocks noChangeAspect="1"/>
          </p:cNvPicPr>
          <p:nvPr/>
        </p:nvPicPr>
        <p:blipFill>
          <a:blip r:embed="rId3"/>
          <a:srcRect t="12238" b="4542"/>
          <a:stretch>
            <a:fillRect/>
          </a:stretch>
        </p:blipFill>
        <p:spPr>
          <a:xfrm>
            <a:off x="452914" y="1766454"/>
            <a:ext cx="7184404" cy="4696691"/>
          </a:xfrm>
          <a:prstGeom prst="rect">
            <a:avLst/>
          </a:prstGeom>
        </p:spPr>
      </p:pic>
      <p:sp>
        <p:nvSpPr>
          <p:cNvPr id="46" name="TextBox 45">
            <a:extLst>
              <a:ext uri="{FF2B5EF4-FFF2-40B4-BE49-F238E27FC236}">
                <a16:creationId xmlns:a16="http://schemas.microsoft.com/office/drawing/2014/main" id="{1CFC2573-979A-25CE-C2F1-B3A1758E32AD}"/>
              </a:ext>
            </a:extLst>
          </p:cNvPr>
          <p:cNvSpPr txBox="1"/>
          <p:nvPr/>
        </p:nvSpPr>
        <p:spPr>
          <a:xfrm>
            <a:off x="8416636" y="1004368"/>
            <a:ext cx="3621504" cy="477054"/>
          </a:xfrm>
          <a:prstGeom prst="rect">
            <a:avLst/>
          </a:prstGeom>
          <a:noFill/>
        </p:spPr>
        <p:txBody>
          <a:bodyPr wrap="none" rtlCol="0">
            <a:spAutoFit/>
          </a:bodyPr>
          <a:lstStyle/>
          <a:p>
            <a:r>
              <a:rPr lang="en-IN" sz="2500" dirty="0">
                <a:latin typeface="Host Grotesk Medium" panose="020B0604020202020204" charset="0"/>
              </a:rPr>
              <a:t>Future Scope &amp; Scaling</a:t>
            </a:r>
          </a:p>
        </p:txBody>
      </p:sp>
      <p:pic>
        <p:nvPicPr>
          <p:cNvPr id="48" name="Picture 47" descr="A diagram of a diagram&#10;&#10;AI-generated content may be incorrect.">
            <a:extLst>
              <a:ext uri="{FF2B5EF4-FFF2-40B4-BE49-F238E27FC236}">
                <a16:creationId xmlns:a16="http://schemas.microsoft.com/office/drawing/2014/main" id="{79611202-6E5C-C3E4-B03C-E21FF6DB204B}"/>
              </a:ext>
            </a:extLst>
          </p:cNvPr>
          <p:cNvPicPr>
            <a:picLocks noChangeAspect="1"/>
          </p:cNvPicPr>
          <p:nvPr/>
        </p:nvPicPr>
        <p:blipFill>
          <a:blip r:embed="rId4"/>
          <a:srcRect t="13497" b="6953"/>
          <a:stretch>
            <a:fillRect/>
          </a:stretch>
        </p:blipFill>
        <p:spPr>
          <a:xfrm>
            <a:off x="7637319" y="1766454"/>
            <a:ext cx="6519218" cy="469669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1025722" y="2215314"/>
            <a:ext cx="6100763" cy="702826"/>
          </a:xfrm>
          <a:prstGeom prst="rect">
            <a:avLst/>
          </a:prstGeom>
          <a:noFill/>
          <a:ln/>
        </p:spPr>
        <p:txBody>
          <a:bodyPr wrap="none" lIns="0" tIns="0" rIns="0" bIns="0" rtlCol="0" anchor="t"/>
          <a:lstStyle/>
          <a:p>
            <a:pPr marL="0" indent="0" algn="l">
              <a:lnSpc>
                <a:spcPts val="5500"/>
              </a:lnSpc>
              <a:buNone/>
            </a:pPr>
            <a:r>
              <a:rPr lang="en-US" sz="3200" dirty="0">
                <a:solidFill>
                  <a:srgbClr val="2E3C4E"/>
                </a:solidFill>
                <a:latin typeface="Host Grotesk Medium" pitchFamily="34" charset="0"/>
                <a:ea typeface="Host Grotesk Medium" pitchFamily="34" charset="-122"/>
                <a:cs typeface="Host Grotesk Medium" pitchFamily="34" charset="-120"/>
              </a:rPr>
              <a:t>Team Members</a:t>
            </a:r>
            <a:endParaRPr lang="en-US" sz="3200" dirty="0"/>
          </a:p>
        </p:txBody>
      </p:sp>
      <p:sp>
        <p:nvSpPr>
          <p:cNvPr id="4" name="Text 1"/>
          <p:cNvSpPr/>
          <p:nvPr/>
        </p:nvSpPr>
        <p:spPr>
          <a:xfrm>
            <a:off x="1266943" y="3171247"/>
            <a:ext cx="2811899" cy="351472"/>
          </a:xfrm>
          <a:prstGeom prst="rect">
            <a:avLst/>
          </a:prstGeom>
          <a:noFill/>
          <a:ln/>
        </p:spPr>
        <p:txBody>
          <a:bodyPr wrap="none" lIns="0" tIns="0" rIns="0" bIns="0" rtlCol="0" anchor="t"/>
          <a:lstStyle/>
          <a:p>
            <a:pPr marL="342900" indent="-342900" algn="l">
              <a:lnSpc>
                <a:spcPts val="2750"/>
              </a:lnSpc>
              <a:buFont typeface="Wingdings" panose="05000000000000000000" pitchFamily="2" charset="2"/>
              <a:buChar char="v"/>
            </a:pPr>
            <a:r>
              <a:rPr lang="en-US" sz="2200" dirty="0">
                <a:solidFill>
                  <a:srgbClr val="384653"/>
                </a:solidFill>
                <a:latin typeface="Host Grotesk Medium" pitchFamily="34" charset="0"/>
              </a:rPr>
              <a:t>Rounak Banerjee</a:t>
            </a:r>
            <a:endParaRPr lang="en-US" sz="2200" dirty="0"/>
          </a:p>
        </p:txBody>
      </p:sp>
      <p:sp>
        <p:nvSpPr>
          <p:cNvPr id="7" name="Text 3"/>
          <p:cNvSpPr/>
          <p:nvPr/>
        </p:nvSpPr>
        <p:spPr>
          <a:xfrm>
            <a:off x="1264203" y="3667379"/>
            <a:ext cx="2811899" cy="351472"/>
          </a:xfrm>
          <a:prstGeom prst="rect">
            <a:avLst/>
          </a:prstGeom>
          <a:noFill/>
          <a:ln/>
        </p:spPr>
        <p:txBody>
          <a:bodyPr wrap="none" lIns="0" tIns="0" rIns="0" bIns="0" rtlCol="0" anchor="t"/>
          <a:lstStyle/>
          <a:p>
            <a:pPr marL="342900" indent="-342900" algn="l">
              <a:lnSpc>
                <a:spcPts val="2750"/>
              </a:lnSpc>
              <a:buFont typeface="Wingdings" panose="05000000000000000000" pitchFamily="2" charset="2"/>
              <a:buChar char="v"/>
            </a:pPr>
            <a:r>
              <a:rPr lang="en-US" sz="2200" dirty="0">
                <a:solidFill>
                  <a:srgbClr val="384653"/>
                </a:solidFill>
                <a:latin typeface="Host Grotesk Medium" pitchFamily="34" charset="0"/>
              </a:rPr>
              <a:t>Ronit </a:t>
            </a:r>
            <a:r>
              <a:rPr lang="en-US" sz="2200" dirty="0" err="1">
                <a:solidFill>
                  <a:srgbClr val="384653"/>
                </a:solidFill>
                <a:latin typeface="Host Grotesk Medium" pitchFamily="34" charset="0"/>
              </a:rPr>
              <a:t>Keshri</a:t>
            </a:r>
            <a:endParaRPr lang="en-US" sz="2200" dirty="0"/>
          </a:p>
        </p:txBody>
      </p:sp>
      <p:sp>
        <p:nvSpPr>
          <p:cNvPr id="10" name="Text 5"/>
          <p:cNvSpPr/>
          <p:nvPr/>
        </p:nvSpPr>
        <p:spPr>
          <a:xfrm>
            <a:off x="1264202" y="4163511"/>
            <a:ext cx="2811899" cy="351472"/>
          </a:xfrm>
          <a:prstGeom prst="rect">
            <a:avLst/>
          </a:prstGeom>
          <a:noFill/>
          <a:ln/>
        </p:spPr>
        <p:txBody>
          <a:bodyPr wrap="none" lIns="0" tIns="0" rIns="0" bIns="0" rtlCol="0" anchor="t"/>
          <a:lstStyle/>
          <a:p>
            <a:pPr marL="342900" indent="-342900" algn="l">
              <a:lnSpc>
                <a:spcPts val="2750"/>
              </a:lnSpc>
              <a:buFont typeface="Wingdings" panose="05000000000000000000" pitchFamily="2" charset="2"/>
              <a:buChar char="v"/>
            </a:pPr>
            <a:r>
              <a:rPr lang="en-US" sz="2200" dirty="0">
                <a:solidFill>
                  <a:srgbClr val="384653"/>
                </a:solidFill>
                <a:latin typeface="Host Grotesk Medium" pitchFamily="34" charset="0"/>
              </a:rPr>
              <a:t>Sohaib Ahmed</a:t>
            </a:r>
            <a:endParaRPr lang="en-US" sz="2200" dirty="0"/>
          </a:p>
        </p:txBody>
      </p:sp>
      <p:sp>
        <p:nvSpPr>
          <p:cNvPr id="13" name="Text 7"/>
          <p:cNvSpPr/>
          <p:nvPr/>
        </p:nvSpPr>
        <p:spPr>
          <a:xfrm>
            <a:off x="1266943" y="4655670"/>
            <a:ext cx="2811899" cy="351472"/>
          </a:xfrm>
          <a:prstGeom prst="rect">
            <a:avLst/>
          </a:prstGeom>
          <a:noFill/>
          <a:ln/>
        </p:spPr>
        <p:txBody>
          <a:bodyPr wrap="none" lIns="0" tIns="0" rIns="0" bIns="0" rtlCol="0" anchor="t"/>
          <a:lstStyle/>
          <a:p>
            <a:pPr marL="342900" indent="-342900" algn="l">
              <a:lnSpc>
                <a:spcPts val="2750"/>
              </a:lnSpc>
              <a:buFont typeface="Wingdings" panose="05000000000000000000" pitchFamily="2" charset="2"/>
              <a:buChar char="v"/>
            </a:pPr>
            <a:r>
              <a:rPr lang="en-US" sz="2200" dirty="0">
                <a:solidFill>
                  <a:srgbClr val="384653"/>
                </a:solidFill>
                <a:latin typeface="Host Grotesk Medium" pitchFamily="34" charset="0"/>
              </a:rPr>
              <a:t>Sriram Ramesh</a:t>
            </a:r>
            <a:endParaRPr lang="en-US" sz="2200" dirty="0"/>
          </a:p>
        </p:txBody>
      </p:sp>
      <p:sp>
        <p:nvSpPr>
          <p:cNvPr id="21" name="Text 0">
            <a:extLst>
              <a:ext uri="{FF2B5EF4-FFF2-40B4-BE49-F238E27FC236}">
                <a16:creationId xmlns:a16="http://schemas.microsoft.com/office/drawing/2014/main" id="{09A25E15-4641-FBE3-AE02-53BC74A16E98}"/>
              </a:ext>
            </a:extLst>
          </p:cNvPr>
          <p:cNvSpPr/>
          <p:nvPr/>
        </p:nvSpPr>
        <p:spPr>
          <a:xfrm>
            <a:off x="1025719" y="1137869"/>
            <a:ext cx="6100763" cy="702826"/>
          </a:xfrm>
          <a:prstGeom prst="rect">
            <a:avLst/>
          </a:prstGeom>
          <a:noFill/>
          <a:ln/>
        </p:spPr>
        <p:txBody>
          <a:bodyPr wrap="none" lIns="0" tIns="0" rIns="0" bIns="0" rtlCol="0" anchor="t"/>
          <a:lstStyle/>
          <a:p>
            <a:pPr>
              <a:lnSpc>
                <a:spcPts val="5500"/>
              </a:lnSpc>
            </a:pPr>
            <a:r>
              <a:rPr lang="en-US" sz="3200" dirty="0">
                <a:solidFill>
                  <a:srgbClr val="2E3C4E"/>
                </a:solidFill>
                <a:latin typeface="Host Grotesk Medium" pitchFamily="34" charset="0"/>
                <a:ea typeface="Host Grotesk Medium" pitchFamily="34" charset="-122"/>
                <a:cs typeface="Host Grotesk Medium" pitchFamily="34" charset="-120"/>
              </a:rPr>
              <a:t>Team Name: </a:t>
            </a:r>
            <a:r>
              <a:rPr lang="en-IN" sz="3200" b="1" dirty="0">
                <a:latin typeface="Host Grotesk Medium" panose="020B0604020202020204" charset="0"/>
              </a:rPr>
              <a:t>Ctrl Alt Elite</a:t>
            </a:r>
            <a:endParaRPr lang="en-US" sz="3200" b="1" dirty="0">
              <a:latin typeface="Host Grotesk Medium" panose="020B0604020202020204" charset="0"/>
            </a:endParaRPr>
          </a:p>
        </p:txBody>
      </p:sp>
      <p:sp>
        <p:nvSpPr>
          <p:cNvPr id="22" name="TextBox 21">
            <a:extLst>
              <a:ext uri="{FF2B5EF4-FFF2-40B4-BE49-F238E27FC236}">
                <a16:creationId xmlns:a16="http://schemas.microsoft.com/office/drawing/2014/main" id="{2A0C756C-9554-D6E3-62EF-069C9C4A9E51}"/>
              </a:ext>
            </a:extLst>
          </p:cNvPr>
          <p:cNvSpPr txBox="1"/>
          <p:nvPr/>
        </p:nvSpPr>
        <p:spPr>
          <a:xfrm>
            <a:off x="457200" y="5484563"/>
            <a:ext cx="12117420" cy="523220"/>
          </a:xfrm>
          <a:prstGeom prst="rect">
            <a:avLst/>
          </a:prstGeom>
          <a:noFill/>
        </p:spPr>
        <p:txBody>
          <a:bodyPr wrap="none" rtlCol="0">
            <a:spAutoFit/>
          </a:bodyPr>
          <a:lstStyle/>
          <a:p>
            <a:r>
              <a:rPr lang="en-US" sz="2800" dirty="0">
                <a:latin typeface="Aharoni" panose="020F0502020204030204" pitchFamily="2" charset="-79"/>
                <a:cs typeface="Aharoni" panose="020F0502020204030204" pitchFamily="2" charset="-79"/>
              </a:rPr>
              <a:t>“Software Engineers coding a greener future, one sustainable solution at a time.”</a:t>
            </a:r>
            <a:endParaRPr lang="en-IN" sz="2800" dirty="0">
              <a:latin typeface="Aharoni" panose="020F0502020204030204" pitchFamily="2" charset="-79"/>
              <a:cs typeface="Aharoni" panose="020F0502020204030204" pitchFamily="2" charset="-79"/>
            </a:endParaRPr>
          </a:p>
        </p:txBody>
      </p:sp>
    </p:spTree>
  </p:cSld>
  <p:clrMapOvr>
    <a:masterClrMapping/>
  </p:clrMapOvr>
</p:sld>
</file>

<file path=ppt/theme/theme1.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Basis">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sis">
      <a:fillStyleLst>
        <a:solidFill>
          <a:schemeClr val="phClr"/>
        </a:solidFill>
        <a:solidFill>
          <a:schemeClr val="phClr">
            <a:tint val="55000"/>
            <a:satMod val="130000"/>
          </a:schemeClr>
        </a:solidFill>
        <a:gradFill rotWithShape="1">
          <a:gsLst>
            <a:gs pos="0">
              <a:schemeClr val="phClr"/>
            </a:gs>
            <a:gs pos="90000">
              <a:schemeClr val="phClr">
                <a:shade val="100000"/>
                <a:satMod val="105000"/>
              </a:schemeClr>
            </a:gs>
            <a:gs pos="100000">
              <a:schemeClr val="phClr">
                <a:shade val="80000"/>
                <a:satMod val="120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27000"/>
                <a:satMod val="120000"/>
              </a:schemeClr>
            </a:contourClr>
          </a:sp3d>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objectDefaults/>
  <a:extraClrSchemeLst/>
  <a:extLst>
    <a:ext uri="{05A4C25C-085E-4340-85A3-A5531E510DB2}">
      <thm15:themeFamily xmlns:thm15="http://schemas.microsoft.com/office/thememl/2012/main" name="Basis" id="{5665723A-49BA-4B57-8411-A56F8F207965}" vid="{90E45F77-AEFC-46EF-A7C1-5B338C297B0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TM03457444[[fn=Basis]]</Template>
  <TotalTime>71</TotalTime>
  <Words>592</Words>
  <Application>Microsoft Office PowerPoint</Application>
  <PresentationFormat>Custom</PresentationFormat>
  <Paragraphs>144</Paragraphs>
  <Slides>9</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Corbel</vt:lpstr>
      <vt:lpstr>Aharoni</vt:lpstr>
      <vt:lpstr>Host Grotesk Medium</vt:lpstr>
      <vt:lpstr>Wingdings</vt:lpstr>
      <vt:lpstr>Roboto</vt:lpstr>
      <vt:lpstr>Basis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Rounak Banerjee</cp:lastModifiedBy>
  <cp:revision>2</cp:revision>
  <dcterms:created xsi:type="dcterms:W3CDTF">2025-08-17T13:03:33Z</dcterms:created>
  <dcterms:modified xsi:type="dcterms:W3CDTF">2025-08-17T14:15:40Z</dcterms:modified>
</cp:coreProperties>
</file>